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04a9f0e0844753" /><Relationship Type="http://schemas.openxmlformats.org/officeDocument/2006/relationships/extended-properties" Target="/docProps/app.xml" Id="R641f0e7ec58f4868" /><Relationship Type="http://schemas.openxmlformats.org/officeDocument/2006/relationships/officeDocument" Target="/ppt/presentation.xml" Id="R4ba3663146914f02" /></Relationships>
</file>

<file path=ppt/presentation.xml><?xml version="1.0" encoding="utf-8"?>
<p:presentation xmlns:p="http://schemas.openxmlformats.org/presentationml/2006/main">
  <p:sldMasterIdLst>
    <p:sldMasterId xmlns:r="http://schemas.openxmlformats.org/officeDocument/2006/relationships" id="2147483648" r:id="R717822e426124265"/>
  </p:sldMasterIdLst>
  <p:notesMasterIdLst>
    <p:notesMasterId xmlns:r="http://schemas.openxmlformats.org/officeDocument/2006/relationships" r:id="R57edf7c3f167407d"/>
  </p:notesMasterIdLst>
  <p:sldIdLst>
    <p:sldId xmlns:r="http://schemas.openxmlformats.org/officeDocument/2006/relationships" id="256" r:id="Rcd333f064a07447e"/>
    <p:sldId xmlns:r="http://schemas.openxmlformats.org/officeDocument/2006/relationships" id="257" r:id="R3b7b9bc99a0b4c4b"/>
    <p:sldId xmlns:r="http://schemas.openxmlformats.org/officeDocument/2006/relationships" id="258" r:id="R9667b013ca0546ea"/>
    <p:sldId xmlns:r="http://schemas.openxmlformats.org/officeDocument/2006/relationships" id="259" r:id="Rfe683e0dcc3945f9"/>
    <p:sldId xmlns:r="http://schemas.openxmlformats.org/officeDocument/2006/relationships" id="260" r:id="Rcd01e4ba8c514c21"/>
    <p:sldId xmlns:r="http://schemas.openxmlformats.org/officeDocument/2006/relationships" id="261" r:id="R10302d66904746fb"/>
    <p:sldId xmlns:r="http://schemas.openxmlformats.org/officeDocument/2006/relationships" id="262" r:id="R2b76da24656a4a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8141398a334cba" /><Relationship Type="http://schemas.openxmlformats.org/officeDocument/2006/relationships/slideMaster" Target="/ppt/slideMasters/slideMaster1.xml" Id="R717822e426124265" /><Relationship Type="http://schemas.openxmlformats.org/officeDocument/2006/relationships/notesMaster" Target="/ppt/notesMasters/notesMaster1.xml" Id="R57edf7c3f167407d" /><Relationship Type="http://schemas.openxmlformats.org/officeDocument/2006/relationships/presProps" Target="/ppt/presProps.xml" Id="R9bffe426089f4a8e" /><Relationship Type="http://schemas.openxmlformats.org/officeDocument/2006/relationships/tableStyles" Target="/ppt/tableStyles.xml" Id="R08a342cb28cf41f7" /><Relationship Type="http://schemas.openxmlformats.org/officeDocument/2006/relationships/slide" Target="/ppt/slides/slide1.xml" Id="Rcd333f064a07447e" /><Relationship Type="http://schemas.openxmlformats.org/officeDocument/2006/relationships/slide" Target="/ppt/slides/slide2.xml" Id="R3b7b9bc99a0b4c4b" /><Relationship Type="http://schemas.openxmlformats.org/officeDocument/2006/relationships/slide" Target="/ppt/slides/slide3.xml" Id="R9667b013ca0546ea" /><Relationship Type="http://schemas.openxmlformats.org/officeDocument/2006/relationships/slide" Target="/ppt/slides/slide4.xml" Id="Rfe683e0dcc3945f9" /><Relationship Type="http://schemas.openxmlformats.org/officeDocument/2006/relationships/slide" Target="/ppt/slides/slide5.xml" Id="Rcd01e4ba8c514c21" /><Relationship Type="http://schemas.openxmlformats.org/officeDocument/2006/relationships/slide" Target="/ppt/slides/slide6.xml" Id="R10302d66904746fb" /><Relationship Type="http://schemas.openxmlformats.org/officeDocument/2006/relationships/slide" Target="/ppt/slides/slide7.xml" Id="R2b76da24656a4a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9f2c85c5f64d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c35af1926e4ab1" /><Relationship Type="http://schemas.openxmlformats.org/officeDocument/2006/relationships/notesMaster" Target="/ppt/notesMasters/notesMaster1.xml" Id="R742767fbf0204d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f8c2e8fc9441ce" /><Relationship Type="http://schemas.openxmlformats.org/officeDocument/2006/relationships/notesMaster" Target="/ppt/notesMasters/notesMaster1.xml" Id="R29a21118d5d14e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c0ea5ff1f24ed2" /><Relationship Type="http://schemas.openxmlformats.org/officeDocument/2006/relationships/notesMaster" Target="/ppt/notesMasters/notesMaster1.xml" Id="Ref358c82fef344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f3aa50bbf049a7" /><Relationship Type="http://schemas.openxmlformats.org/officeDocument/2006/relationships/notesMaster" Target="/ppt/notesMasters/notesMaster1.xml" Id="R73bff399b8e145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e9b02b67c44cc4" /><Relationship Type="http://schemas.openxmlformats.org/officeDocument/2006/relationships/notesMaster" Target="/ppt/notesMasters/notesMaster1.xml" Id="R4388244d1b9b417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f375e9a88d45e3" /><Relationship Type="http://schemas.openxmlformats.org/officeDocument/2006/relationships/notesMaster" Target="/ppt/notesMasters/notesMaster1.xml" Id="Rc6e493ea765844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1de7852c5b4402" /><Relationship Type="http://schemas.openxmlformats.org/officeDocument/2006/relationships/notesMaster" Target="/ppt/notesMasters/notesMaster1.xml" Id="Rf22091f1b79043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الوقت المقترح: 00:00–00:20 (20 ثانية)</a:t>
            </a:r>
          </a:p>
          <a:p xmlns:a="http://schemas.openxmlformats.org/drawingml/2006/main">
            <a:r>
              <a:t/>
            </a:r>
          </a:p>
          <a:p xmlns:a="http://schemas.openxmlformats.org/drawingml/2006/main">
            <a:pPr rtl="1"/>
            <a:r>
              <a:t>نص الشرح:</a:t>
            </a:r>
          </a:p>
          <a:p xmlns:a="http://schemas.openxmlformats.org/drawingml/2006/main">
            <a:pPr rtl="1"/>
            <a:r>
              <a:t>إحنا طشّة. منصّة بتساعد الناس يلاقوا تجارب محلية بتناسبهم، وبتعطي الشركات السياحية الصغيرة فرصة توصل لعملاء مهتمّين فعلًا. مشروعنا ضمن الاقتصاد الرقمي، لأنه بيربط اكتشاف النشاط بفرصة دخل لشركة محلية.</a:t>
            </a:r>
          </a:p>
          <a:p xmlns:a="http://schemas.openxmlformats.org/drawingml/2006/main">
            <a:r>
              <a:t/>
            </a:r>
          </a:p>
          <a:p xmlns:a="http://schemas.openxmlformats.org/drawingml/2006/main">
            <a:pPr rtl="1"/>
            <a:r>
              <a:t>المشروع نفسه كان يحمل اسم jordan-local أثناء التطوير. الاسم المعتمد من الفريق الآن طشّة / Tasha.</a:t>
            </a:r>
          </a:p>
          <a:p xmlns:a="http://schemas.openxmlformats.org/drawingml/2006/main">
            <a:pPr rtl="1"/>
            <a:r>
              <a:t>المصدر: وصف الفريق وسياق المشروع. الغلاف رسم تعبيري مولّد بالذكاء الاصطناعي، وليس صورة لشركة أو حدث فعلي.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الوقت المقترح: 00:20–01:00 (40 ثانية)</a:t>
            </a:r>
          </a:p>
          <a:p xmlns:a="http://schemas.openxmlformats.org/drawingml/2006/main">
            <a:r>
              <a:t/>
            </a:r>
          </a:p>
          <a:p xmlns:a="http://schemas.openxmlformats.org/drawingml/2006/main">
            <a:pPr rtl="1"/>
            <a:r>
              <a:t>نص الشرح:</a:t>
            </a:r>
          </a:p>
          <a:p xmlns:a="http://schemas.openxmlformats.org/drawingml/2006/main">
            <a:pPr rtl="1"/>
            <a:r>
              <a:t>المشكلة إلها طرفين. شركة محلية ممكن تقدّم تجربة ممتازة، لكن الناس ما بتعرفها أو ما بتوصل لصفحتها. وبنفس الوقت، الشخص اللي بده يطلع بيضيّع وقت بين صفحات ومنشورات عشان يعرف شو بناسب ميزانيته واهتمامه. لما الطرفين ما يلتقوا، المستخدم بخسر خيار مناسب، والشركة بتخسر فرصة بيع. تركيزنا على الشركات والتجارب الأقل ظهورًا، عشان نعطيها قناة وصول إضافية.</a:t>
            </a:r>
          </a:p>
          <a:p xmlns:a="http://schemas.openxmlformats.org/drawingml/2006/main">
            <a:r>
              <a:t/>
            </a:r>
          </a:p>
          <a:p xmlns:a="http://schemas.openxmlformats.org/drawingml/2006/main">
            <a:pPr rtl="1"/>
            <a:r>
              <a:t>صياغة المشكلة مبنية على فكرة الفريق وموجز التحدي الذي يذكر تركز السياحة وضعف وصول الأعمال المحلية. لا توجد في العرض أرقام سوق أو نتائج أبحاث ميدانية غير متاحة.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الوقت المقترح: 01:00–01:45 (45 ثانية)</a:t>
            </a:r>
          </a:p>
          <a:p xmlns:a="http://schemas.openxmlformats.org/drawingml/2006/main">
            <a:r>
              <a:t/>
            </a:r>
          </a:p>
          <a:p xmlns:a="http://schemas.openxmlformats.org/drawingml/2006/main">
            <a:pPr rtl="1"/>
            <a:r>
              <a:t>نص الشرح:</a:t>
            </a:r>
          </a:p>
          <a:p xmlns:a="http://schemas.openxmlformats.org/drawingml/2006/main">
            <a:pPr rtl="1"/>
            <a:r>
              <a:t>حلّنا يجمع العرض والطلب بمكان واحد. الشركة تضيف بياناتها والأنشطة اللي بتقدّمها، والمستخدم يحدد شو بحب ووين بده يروح وميزانيته. المنصّة تطلعله أنشطة مناسبة بدل ما يفتّش عشوائيًا. القيمة للشركة هي الظهور أمام شخص عنده اهتمام فعلي بالتجربة، والقيمة للمستخدم هي قرار أسهل. نطاق النموذج الأولي هو نشر واكتشاف الأنشطة والتوصية بها. الحجز والدفع الإلكتروني توسّع لاحق، وما منعرضهم كميزات جاهزة.</a:t>
            </a:r>
          </a:p>
          <a:p xmlns:a="http://schemas.openxmlformats.org/drawingml/2006/main">
            <a:r>
              <a:t/>
            </a:r>
          </a:p>
          <a:p xmlns:a="http://schemas.openxmlformats.org/drawingml/2006/main">
            <a:pPr rtl="1"/>
            <a:r>
              <a:t>بيانات تسجيل الشركة وحالة الترخيص جزء من متطلبات المشروع. أي حالة ترخيص تدخلها الشركة هي تصريح منها حتى يجري التحقق الفعلي. لا تُعرض كشهادة تحقق حكومية.</a:t>
            </a:r>
          </a:p>
          <a:p xmlns:a="http://schemas.openxmlformats.org/drawingml/2006/main">
            <a:pPr rtl="1"/>
            <a:r>
              <a:t>هذا وصف لمسار المنتج المتفق عليه، وحالة التنفيذ الفعلية تُعرض في الديمو.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الوقت المقترح: 01:45–02:55 (70 ثانية)</a:t>
            </a:r>
          </a:p>
          <a:p xmlns:a="http://schemas.openxmlformats.org/drawingml/2006/main">
            <a:r>
              <a:t/>
            </a:r>
          </a:p>
          <a:p xmlns:a="http://schemas.openxmlformats.org/drawingml/2006/main">
            <a:pPr rtl="1"/>
            <a:r>
              <a:t>نص الشرح:</a:t>
            </a:r>
          </a:p>
          <a:p xmlns:a="http://schemas.openxmlformats.org/drawingml/2006/main">
            <a:pPr rtl="1"/>
            <a:r>
              <a:t>مكان الذكاء الاصطناعي الأساسي في طشّة هو نظام التوصية. بنستخدم تفضيلات الشخص أو معنى طلبه حتى نرتّب الأنشطة الأقرب لإله ونشرح السبب. التصميم اللي اتفقنا عليه يجمع بين فلترة شروط واضحة، مثل الميزانية والموقع، وترتيب دلالي للخيارات المناسبة. هذا يقلّل النتائج غير الملائمة ويخلّي التوصية مفهومة. مصدر معلومات الأنشطة هو قاعدة بيانات المنصّة، مع تحقق من النتيجة حتى ما يطلع اسم أو سعر مختلق. الواجهة مبنية على Next.js وTypeScript وTailwind، وخطة الربط تشمل Supabase للبيانات وOpenAI مع Zod للتحقق من بنية الاستجابة.</a:t>
            </a:r>
          </a:p>
          <a:p xmlns:a="http://schemas.openxmlformats.org/drawingml/2006/main">
            <a:r>
              <a:t/>
            </a:r>
          </a:p>
          <a:p xmlns:a="http://schemas.openxmlformats.org/drawingml/2006/main">
            <a:pPr rtl="1"/>
            <a:r>
              <a:t>التفاصيل التقنية في المحادثات السابقة تصف البنية المتفق عليها، ولا تؤكد اكتمال الربط في آخر نسخة. الشريحة تسمّيها خطة ربط لهذا السبب. قبل العرض، اذكر فقط ما يعمل في نسخة الديمو.</a:t>
            </a:r>
          </a:p>
          <a:p xmlns:a="http://schemas.openxmlformats.org/drawingml/2006/main">
            <a:pPr rtl="1"/>
            <a:r>
              <a:t>إذا كان العرض يستخدم rules_fallback أو بيانات ثابتة، قل بوضوح إنه ترتيب بالقواعد أو عرض تجريبي، وليس استدعاء نموذج حي.</a:t>
            </a:r>
          </a:p>
          <a:p xmlns:a="http://schemas.openxmlformats.org/drawingml/2006/main">
            <a:pPr rtl="1"/>
            <a:r>
              <a:t>للسؤال التقني: لم ندّع تدريب نموذج خاص. التصميم يستخدم نموذجًا جاهزًا لترتيب أنشطة موجودة، مع فلترة حتمية والتحقق من المعرّفات والحقائق. لا حاجة لتسمية نموذج أو إصدار غير مؤكد.</a:t>
            </a:r>
          </a:p>
          <a:p xmlns:a="http://schemas.openxmlformats.org/drawingml/2006/main">
            <a:pPr rtl="1"/>
            <a:r>
              <a:t>التحسين اللاحق: قياس نسبة النقر أو التواصل على مجموعة استعلامات اختبار ومقارنتها بالترتيب بالقواعد.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الوقت المقترح: 02:55–04:55 (120 ثانية)</a:t>
            </a:r>
          </a:p>
          <a:p xmlns:a="http://schemas.openxmlformats.org/drawingml/2006/main">
            <a:r>
              <a:t/>
            </a:r>
          </a:p>
          <a:p xmlns:a="http://schemas.openxmlformats.org/drawingml/2006/main">
            <a:pPr rtl="1"/>
            <a:r>
              <a:t>نص الشرح:</a:t>
            </a:r>
          </a:p>
          <a:p xmlns:a="http://schemas.openxmlformats.org/drawingml/2006/main">
            <a:pPr rtl="1"/>
            <a:r>
              <a:t>هسا رح نورجيكم الرحلة على النموذج الأولي. نبدأ بنشاط تجريبي تابع لشركة محلية، وفيه معلومات واضحة عن الموقع والسعر ونوع التجربة. ننتقل للمستخدم وندخل الطلب: بدي طشّة طبيعة قريبة من عمّان بميزانية عشرين دينار. نشوف الخيارات اللي ظهرت، ونفتح واحد منها ونشرح ليش مناسب. القيمة هون إن المستخدم وصل لتجربة وشركة ممكن ما كان يعرفهم من قبل.</a:t>
            </a:r>
          </a:p>
          <a:p xmlns:a="http://schemas.openxmlformats.org/drawingml/2006/main">
            <a:r>
              <a:t/>
            </a:r>
          </a:p>
          <a:p xmlns:a="http://schemas.openxmlformats.org/drawingml/2006/main">
            <a:pPr rtl="1"/>
            <a:r>
              <a:t>توزيع الديمو المقترح: 30 ثانية لصفحة الشركة أو النشاط، 30 ثانية لإدخال التفضيلات، 45 ثانية للنتائج وسبب الترشيح، 15 ثانية لشرح القيمة.</a:t>
            </a:r>
          </a:p>
          <a:p xmlns:a="http://schemas.openxmlformats.org/drawingml/2006/main">
            <a:pPr rtl="1"/>
            <a:r>
              <a:t>اعرض المسار المتوفر فعلًا في نسختكم. إذا النشر غير مكتمل، ابدأ بنشاط محفوظ مسبقًا واذكر ذلك. إذا الطلب الحر غير جاهز، استخدم حقول الاهتمامات والميزانية المتاحة واذكر نطاقها.</a:t>
            </a:r>
          </a:p>
          <a:p xmlns:a="http://schemas.openxmlformats.org/drawingml/2006/main">
            <a:pPr rtl="1"/>
            <a:r>
              <a:t>بيانات الديمو اصطناعية أو مدخلة بإذن. بيّن مصدر التوصية الفعلي: نموذج حي، قواعد احتياطية، أو مخرجات ثابتة. التحقق الرسمي من التراخيص والحجز والدفع ليست ادعاءات للنسخة الحالية.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الوقت المقترح: 04:55–06:00 (65 ثانية)</a:t>
            </a:r>
          </a:p>
          <a:p xmlns:a="http://schemas.openxmlformats.org/drawingml/2006/main">
            <a:r>
              <a:t/>
            </a:r>
          </a:p>
          <a:p xmlns:a="http://schemas.openxmlformats.org/drawingml/2006/main">
            <a:pPr rtl="1"/>
            <a:r>
              <a:t>نص الشرح:</a:t>
            </a:r>
          </a:p>
          <a:p xmlns:a="http://schemas.openxmlformats.org/drawingml/2006/main">
            <a:pPr rtl="1"/>
            <a:r>
              <a:t>مين بدفع؟ المستخدم بيكتشف الأنشطة مجانًا. وبالنسبة للشركات، البداية بنشر أساسي مجاني، وبعد إثبات القيمة نختبر اشتراكًا اختياريًا بعشرة دنانير شهريًا مقابل أدوات إدارة وقياس تفاعل تساعد الشركة تعرف شو جاب إلها اهتمام. مثال بسيط: خمسين شركة مشتركة تعطي خمسمية دينار إيرادًا شهريًا، وهذا مثال افتراضي، مش دخل حققناه. تكلفة التشغيل تعتمد على الاستضافة وقاعدة البيانات وعدد طلبات النموذج. نقترح سقف تجربة بخمسة وسبعين دينارًا شهريًا، ونقيس الاستهلاك الفعلي قبل التسعير النهائي.</a:t>
            </a:r>
          </a:p>
          <a:p xmlns:a="http://schemas.openxmlformats.org/drawingml/2006/main">
            <a:r>
              <a:t/>
            </a:r>
          </a:p>
          <a:p xmlns:a="http://schemas.openxmlformats.org/drawingml/2006/main">
            <a:pPr rtl="1"/>
            <a:r>
              <a:t>أرقام 10 دنانير و50 شركة وسقف 75 دينارًا هي فرضيات مقترحة لهذا العرض وليست أسعار مورّدين أو نتائج مالية. السقف لا يثبت إمكانية خدمة أي عدد من المستخدمين ويُراجع وفق التكلفة الفعلية.</a:t>
            </a:r>
          </a:p>
          <a:p xmlns:a="http://schemas.openxmlformats.org/drawingml/2006/main">
            <a:pPr rtl="1"/>
            <a:r>
              <a:t>لسؤال كيف نقلّل التكلفة: فلترة البيانات قبل استدعاء النموذج، إرسال الخيارات المناسبة فقط، تخزين الطلبات المتكررة مؤقتًا، وضع حدود استخدام، وقياس تكلفة الطلب. هذه سياسات تشغيل مقترحة.</a:t>
            </a:r>
          </a:p>
          <a:p xmlns:a="http://schemas.openxmlformats.org/drawingml/2006/main">
            <a:pPr rtl="1"/>
            <a:r>
              <a:t>لسؤال لماذا ستدفع الشركة: نختبر استعدادها للدفع مقابل تواصل فعلي وتقارير مفيدة، ولا نفترض ذلك مسبقًا. الاشتراك لا يشتري مرتبة عضوية أعلى في التوصيات.</a:t>
            </a:r>
          </a:p>
          <a:p xmlns:a="http://schemas.openxmlformats.org/drawingml/2006/main">
            <a:pPr rtl="1"/>
            <a:r>
              <a:t>التوسع المقترح يبدأ بمنطقة وفئة نشاط محددتين، ثم نضيف شركات ومناطق بعد التحقق من القيمة.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الوقت المقترح: 06:00–07:00 (60 ثانية)</a:t>
            </a:r>
          </a:p>
          <a:p xmlns:a="http://schemas.openxmlformats.org/drawingml/2006/main">
            <a:r>
              <a:t/>
            </a:r>
          </a:p>
          <a:p xmlns:a="http://schemas.openxmlformats.org/drawingml/2006/main">
            <a:pPr rtl="1"/>
            <a:r>
              <a:t>نص الشرح:</a:t>
            </a:r>
          </a:p>
          <a:p xmlns:a="http://schemas.openxmlformats.org/drawingml/2006/main">
            <a:pPr rtl="1"/>
            <a:r>
              <a:t>كيف بنساهم بالاقتصاد؟ لما نخلي الشركات الصغيرة أسهل للاكتشاف، بنزيد فرص إنها تستقبل تواصل ومبيعات من ناس مناسبين لخدماتها. هيك المنصّة ممكن توجّه جزءًا من الإنفاق لتجارب محلية كانت أقل ظهورًا. ما بنقول إننا زِدنا الإيرادات فعلًا قبل ما نقيسها. خطوتنا التالية تجربة لمدة أسبوعين مع عشرين شركة ومية مستخدم، نقيس فيها الشركات النشطة ونسبة التوصيات اللي تحولت لتواصل، وبالتعاون مع الشركات نعرف إذا صار بيع فعلي. طشّة بتختبر كيف الذكاء الاصطناعي يسهّل قرار المستخدم ويفتح فرصة لشركة محلية. شكرًا.</a:t>
            </a:r>
          </a:p>
          <a:p xmlns:a="http://schemas.openxmlformats.org/drawingml/2006/main">
            <a:r>
              <a:t/>
            </a:r>
          </a:p>
          <a:p xmlns:a="http://schemas.openxmlformats.org/drawingml/2006/main">
            <a:pPr rtl="1"/>
            <a:r>
              <a:t>الأثر اقتصادي متوقع، وليس نتيجة مقاسة حتى الآن. أرقام التجربة أهداف مقترحة وليست مستخدمين أو شركاء موجودين.</a:t>
            </a:r>
          </a:p>
          <a:p xmlns:a="http://schemas.openxmlformats.org/drawingml/2006/main">
            <a:pPr rtl="1"/>
            <a:r>
              <a:t>لسؤال الأثر: نفرّق بين الظهور والنقر والتواصل والبيع. لا نعتبر النقرة إيرادًا.</a:t>
            </a:r>
          </a:p>
          <a:p xmlns:a="http://schemas.openxmlformats.org/drawingml/2006/main">
            <a:pPr rtl="1"/>
            <a:r>
              <a:t>لسؤال المنافسة: فرضية تميّزنا هي الجمع بين أنشطة شركات محلية وطلب شخصي بالعربية وتوصية مفسّرة. نختبر هذه القيمة ميدانيًا بدل الادعاء بعدم وجود منافسين.</a:t>
            </a:r>
          </a:p>
          <a:p xmlns:a="http://schemas.openxmlformats.org/drawingml/2006/main">
            <a:pPr rtl="1"/>
            <a:r>
              <a:t>إجمالي الشرائح مع الديمو: 7 دقائق. تليها 3 دقائق أسئلة حسب موجز التحدي.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501631e2a9423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4bbb183afc4b8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30e2a020f0347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4ff4a2dadd044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22450c52348420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9864d87962a47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AF071F-1558-4FAF-96A2-8B1104AE727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B8AE4DA-E64A-45BA-A368-D657FFA676D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68114C0-027D-48AB-83AE-C5A108B9562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6B2ECB-E38C-419A-B906-4ED2EA0ACA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7B748FC-1B56-455A-B5F7-9C607A96B6A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2AC1714-492C-49B6-A5E2-56D27A664B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F30485-FA3C-482C-83C7-7C04D82A39D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95410FD-76FC-4EFA-8D95-6FFE7931FB4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640796-1122-41DD-AAB9-754CCD1FC6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730CF6-0627-4D80-9B2C-A4543414B2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e7f172e02745af" /><Relationship Type="http://schemas.openxmlformats.org/officeDocument/2006/relationships/slideLayout" Target="/ppt/slideLayouts/slideLayout1.xml" Id="Rc9d92bfe1d154091" /><Relationship Type="http://schemas.openxmlformats.org/officeDocument/2006/relationships/slideLayout" Target="/ppt/slideLayouts/slideLayout2.xml" Id="Rad06346c085841a5" /><Relationship Type="http://schemas.openxmlformats.org/officeDocument/2006/relationships/slideLayout" Target="/ppt/slideLayouts/slideLayout3.xml" Id="R53d803bea6a2421d" /><Relationship Type="http://schemas.openxmlformats.org/officeDocument/2006/relationships/slideLayout" Target="/ppt/slideLayouts/slideLayout4.xml" Id="Raaf1d31f1f254690" /><Relationship Type="http://schemas.openxmlformats.org/officeDocument/2006/relationships/slideLayout" Target="/ppt/slideLayouts/slideLayout5.xml" Id="R9c9f68ca562d43f9" /><Relationship Type="http://schemas.openxmlformats.org/officeDocument/2006/relationships/slideLayout" Target="/ppt/slideLayouts/slideLayout6.xml" Id="R2d303a64141047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d92bfe1d154091"/>
    <p:sldLayoutId xmlns:r="http://schemas.openxmlformats.org/officeDocument/2006/relationships" id="2147483650" r:id="Rad06346c085841a5"/>
    <p:sldLayoutId xmlns:r="http://schemas.openxmlformats.org/officeDocument/2006/relationships" id="2147483651" r:id="R53d803bea6a2421d"/>
    <p:sldLayoutId xmlns:r="http://schemas.openxmlformats.org/officeDocument/2006/relationships" id="2147483652" r:id="Raaf1d31f1f254690"/>
    <p:sldLayoutId xmlns:r="http://schemas.openxmlformats.org/officeDocument/2006/relationships" id="2147483653" r:id="R9c9f68ca562d43f9"/>
    <p:sldLayoutId xmlns:r="http://schemas.openxmlformats.org/officeDocument/2006/relationships" id="2147483654" r:id="R2d303a64141047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17361e0cac748c1" /><Relationship Type="http://schemas.openxmlformats.org/officeDocument/2006/relationships/image" Target="/ppt/media/image.png" Id="R454b21b1db224643" /><Relationship Type="http://schemas.openxmlformats.org/officeDocument/2006/relationships/notesSlide" Target="/ppt/notesSlides/notesSlide1.xml" Id="R5712bf4c004f49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dfa758f1a954761" /><Relationship Type="http://schemas.openxmlformats.org/officeDocument/2006/relationships/notesSlide" Target="/ppt/notesSlides/notesSlide2.xml" Id="Rc6a75e72bfaf46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0ed04dc93794929" /><Relationship Type="http://schemas.openxmlformats.org/officeDocument/2006/relationships/notesSlide" Target="/ppt/notesSlides/notesSlide3.xml" Id="R678b2ee846c84c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5c3b4089c5a4388" /><Relationship Type="http://schemas.openxmlformats.org/officeDocument/2006/relationships/notesSlide" Target="/ppt/notesSlides/notesSlide4.xml" Id="R71c92a8ac4d840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9823ce1898d4ae9" /><Relationship Type="http://schemas.openxmlformats.org/officeDocument/2006/relationships/notesSlide" Target="/ppt/notesSlides/notesSlide5.xml" Id="R5a34c75b141f4a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af415d0cfe24dfc" /><Relationship Type="http://schemas.openxmlformats.org/officeDocument/2006/relationships/notesSlide" Target="/ppt/notesSlides/notesSlide6.xml" Id="Rb5fe13319b4348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88304f3c641492e" /><Relationship Type="http://schemas.openxmlformats.org/officeDocument/2006/relationships/notesSlide" Target="/ppt/notesSlides/notesSlide7.xml" Id="R0c854a3e47784239" /></Relationships>
</file>

<file path=ppt/slides/slide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page-1">
            <a:extLst xmlns:a="http://schemas.openxmlformats.org/drawingml/2006/main">
              <a:ext uri="{FF2B5EF4-FFF2-40B4-BE49-F238E27FC236}">
                <a16:creationId xmlns:a16="http://schemas.microsoft.com/office/drawing/2014/main" id="{0FC59957-3A49-4D17-BCE3-F52E5115065C}"/>
              </a:ext>
            </a:extLst>
          </p:cNvPr>
          <p:cNvSpPr>
            <a:spLocks xmlns:a="http://schemas.openxmlformats.org/drawingml/2006/main" noGrp="1"/>
          </p:cNvSpPr>
          <p:nvPr/>
        </p:nvSpPr>
        <p:spPr>
          <a:xfrm xmlns:a="http://schemas.openxmlformats.org/drawingml/2006/main">
            <a:off x="685800" y="62865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67726A"/>
                </a:solidFill>
                <a:latin typeface="DejaVu Sans"/>
                <a:ea typeface="DejaVu Sans"/>
                <a:cs typeface="DejaVu Sans"/>
              </a:defRPr>
            </a:defPPr>
          </a:lstStyle>
          <a:p xmlns:a="http://schemas.openxmlformats.org/drawingml/2006/main">
            <a:pPr algn="l">
              <a:defRPr sz="1275" b="0">
                <a:solidFill>
                  <a:srgbClr val="67726A"/>
                </a:solidFill>
                <a:latin typeface="DejaVu Sans"/>
                <a:ea typeface="DejaVu Sans"/>
                <a:cs typeface="DejaVu Sans"/>
              </a:defRPr>
            </a:pPr>
            <a:r>
              <a:rPr sz="1275" b="0">
                <a:solidFill>
                  <a:srgbClr val="67726A"/>
                </a:solidFill>
                <a:latin typeface="DejaVu Sans"/>
                <a:ea typeface="DejaVu Sans"/>
                <a:cs typeface="DejaVu Sans"/>
              </a:rPr>
              <a:t>01</a:t>
            </a:r>
          </a:p>
        </p:txBody>
      </p:sp>
      <p:pic>
        <p:nvPicPr>
          <p:cNvPr id="2" name="">
            <a:extLst xmlns:a="http://schemas.openxmlformats.org/drawingml/2006/main">
              <a:ext uri="{FF2B5EF4-FFF2-40B4-BE49-F238E27FC236}">
                <a16:creationId xmlns:a16="http://schemas.microsoft.com/office/drawing/2014/main" id="{E88972B6-D663-4A09-AA99-42A465F5E3A1}"/>
              </a:ext>
            </a:extLst>
          </p:cNvPr>
          <p:cNvPicPr>
            <a:picLocks xmlns:a="http://schemas.openxmlformats.org/drawingml/2006/main" noChangeAspect="1"/>
          </p:cNvPicPr>
          <p:nvPr/>
        </p:nvPicPr>
        <p:blipFill>
          <a:blip xmlns:r="http://schemas.openxmlformats.org/officeDocument/2006/relationships" xmlns:a="http://schemas.openxmlformats.org/drawingml/2006/main" r:embed="R454b21b1db224643"/>
          <a:srcRect xmlns:a="http://schemas.openxmlformats.org/drawingml/2006/main" l="1580" t="0" r="1580" b="0"/>
          <a:stretch xmlns:a="http://schemas.openxmlformats.org/drawingml/2006/main">
            <a:fillRect l="0" t="0" r="0" b="0"/>
          </a:stretch>
        </p:blipFill>
        <p:spPr>
          <a:xfrm xmlns:a="http://schemas.openxmlformats.org/drawingml/2006/main">
            <a:off x="0" y="0"/>
            <a:ext cx="5314950" cy="6858000"/>
          </a:xfrm>
          <a:prstGeom xmlns:a="http://schemas.openxmlformats.org/drawingml/2006/main" prst="rect">
            <a:avLst/>
          </a:prstGeom>
        </p:spPr>
      </p:pic>
      <p:sp>
        <p:nvSpPr>
          <p:cNvPr id="3" name="brand-arabic">
            <a:extLst xmlns:a="http://schemas.openxmlformats.org/drawingml/2006/main">
              <a:ext uri="{FF2B5EF4-FFF2-40B4-BE49-F238E27FC236}">
                <a16:creationId xmlns:a16="http://schemas.microsoft.com/office/drawing/2014/main" id="{FA459BE7-BFC9-4A1E-8D7D-F4EF5100BDFF}"/>
              </a:ext>
            </a:extLst>
          </p:cNvPr>
          <p:cNvSpPr>
            <a:spLocks xmlns:a="http://schemas.openxmlformats.org/drawingml/2006/main" noGrp="1"/>
          </p:cNvSpPr>
          <p:nvPr/>
        </p:nvSpPr>
        <p:spPr>
          <a:xfrm xmlns:a="http://schemas.openxmlformats.org/drawingml/2006/main">
            <a:off x="6191250" y="1304925"/>
            <a:ext cx="52197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0" b="1">
                <a:solidFill>
                  <a:srgbClr val="173F35"/>
                </a:solidFill>
                <a:latin typeface="DejaVu Sans"/>
                <a:ea typeface="DejaVu Sans"/>
                <a:cs typeface="DejaVu Sans"/>
              </a:defRPr>
            </a:defPPr>
          </a:lstStyle>
          <a:p xmlns:a="http://schemas.openxmlformats.org/drawingml/2006/main">
            <a:pPr algn="r" rtl="1">
              <a:defRPr sz="9000" b="1">
                <a:solidFill>
                  <a:srgbClr val="173F35"/>
                </a:solidFill>
                <a:latin typeface="DejaVu Sans"/>
                <a:ea typeface="DejaVu Sans"/>
                <a:cs typeface="DejaVu Sans"/>
              </a:defRPr>
            </a:pPr>
            <a:r>
              <a:rPr sz="9000" b="1" lang="ar-JO">
                <a:solidFill>
                  <a:srgbClr val="173F35"/>
                </a:solidFill>
                <a:latin typeface="DejaVu Sans"/>
                <a:ea typeface="DejaVu Sans"/>
                <a:cs typeface="DejaVu Sans"/>
              </a:rPr>
              <a:t>طشّة</a:t>
            </a:r>
          </a:p>
        </p:txBody>
      </p:sp>
      <p:sp>
        <p:nvSpPr>
          <p:cNvPr id="4" name="brand-english">
            <a:extLst xmlns:a="http://schemas.openxmlformats.org/drawingml/2006/main">
              <a:ext uri="{FF2B5EF4-FFF2-40B4-BE49-F238E27FC236}">
                <a16:creationId xmlns:a16="http://schemas.microsoft.com/office/drawing/2014/main" id="{D581A486-9555-4039-9413-54A64ADBF1E1}"/>
              </a:ext>
            </a:extLst>
          </p:cNvPr>
          <p:cNvSpPr>
            <a:spLocks xmlns:a="http://schemas.openxmlformats.org/drawingml/2006/main" noGrp="1"/>
          </p:cNvSpPr>
          <p:nvPr/>
        </p:nvSpPr>
        <p:spPr>
          <a:xfrm xmlns:a="http://schemas.openxmlformats.org/drawingml/2006/main">
            <a:off x="6191250" y="2571750"/>
            <a:ext cx="5219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4125" b="0">
                <a:solidFill>
                  <a:srgbClr val="C76536"/>
                </a:solidFill>
                <a:latin typeface="DejaVu Sans"/>
                <a:ea typeface="DejaVu Sans"/>
                <a:cs typeface="DejaVu Sans"/>
              </a:defRPr>
            </a:defPPr>
          </a:lstStyle>
          <a:p xmlns:a="http://schemas.openxmlformats.org/drawingml/2006/main">
            <a:pPr algn="r">
              <a:defRPr sz="4125" b="0">
                <a:solidFill>
                  <a:srgbClr val="C76536"/>
                </a:solidFill>
                <a:latin typeface="DejaVu Sans"/>
                <a:ea typeface="DejaVu Sans"/>
                <a:cs typeface="DejaVu Sans"/>
              </a:defRPr>
            </a:pPr>
            <a:r>
              <a:rPr sz="4125" b="0">
                <a:solidFill>
                  <a:srgbClr val="C76536"/>
                </a:solidFill>
                <a:latin typeface="DejaVu Sans"/>
                <a:ea typeface="DejaVu Sans"/>
                <a:cs typeface="DejaVu Sans"/>
              </a:rPr>
              <a:t>Tasha</a:t>
            </a:r>
          </a:p>
        </p:txBody>
      </p:sp>
      <p:sp>
        <p:nvSpPr>
          <p:cNvPr id="5" name="text-1">
            <a:extLst xmlns:a="http://schemas.openxmlformats.org/drawingml/2006/main">
              <a:ext uri="{FF2B5EF4-FFF2-40B4-BE49-F238E27FC236}">
                <a16:creationId xmlns:a16="http://schemas.microsoft.com/office/drawing/2014/main" id="{7451023B-DB15-4310-BAC9-4A2ABC1F51EF}"/>
              </a:ext>
            </a:extLst>
          </p:cNvPr>
          <p:cNvSpPr>
            <a:spLocks xmlns:a="http://schemas.openxmlformats.org/drawingml/2006/main" noGrp="1"/>
          </p:cNvSpPr>
          <p:nvPr/>
        </p:nvSpPr>
        <p:spPr>
          <a:xfrm xmlns:a="http://schemas.openxmlformats.org/drawingml/2006/main">
            <a:off x="5934075" y="3648075"/>
            <a:ext cx="54864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075" b="1">
                <a:solidFill>
                  <a:srgbClr val="173F35"/>
                </a:solidFill>
                <a:latin typeface="DejaVu Sans"/>
                <a:ea typeface="DejaVu Sans"/>
                <a:cs typeface="DejaVu Sans"/>
              </a:defRPr>
            </a:defPPr>
          </a:lstStyle>
          <a:p xmlns:a="http://schemas.openxmlformats.org/drawingml/2006/main">
            <a:pPr algn="r" rtl="1">
              <a:defRPr sz="3075" b="1">
                <a:solidFill>
                  <a:srgbClr val="173F35"/>
                </a:solidFill>
                <a:latin typeface="DejaVu Sans"/>
                <a:ea typeface="DejaVu Sans"/>
                <a:cs typeface="DejaVu Sans"/>
              </a:defRPr>
            </a:pPr>
            <a:r>
              <a:rPr sz="3075" b="1" lang="ar-JO">
                <a:solidFill>
                  <a:srgbClr val="173F35"/>
                </a:solidFill>
                <a:latin typeface="DejaVu Sans"/>
                <a:ea typeface="DejaVu Sans"/>
                <a:cs typeface="DejaVu Sans"/>
              </a:rPr>
              <a:t>تجارب محلية تناسبك</a:t>
            </a:r>
          </a:p>
          <a:p xmlns:a="http://schemas.openxmlformats.org/drawingml/2006/main">
            <a:pPr algn="r" rtl="1">
              <a:defRPr sz="3075" b="1">
                <a:solidFill>
                  <a:srgbClr val="173F35"/>
                </a:solidFill>
                <a:latin typeface="DejaVu Sans"/>
                <a:ea typeface="DejaVu Sans"/>
                <a:cs typeface="DejaVu Sans"/>
              </a:defRPr>
            </a:pPr>
            <a:r>
              <a:rPr sz="3075" b="1" lang="ar-JO">
                <a:solidFill>
                  <a:srgbClr val="173F35"/>
                </a:solidFill>
                <a:latin typeface="DejaVu Sans"/>
                <a:ea typeface="DejaVu Sans"/>
                <a:cs typeface="DejaVu Sans"/>
              </a:rPr>
              <a:t>ووصول أفضل للشركات</a:t>
            </a:r>
          </a:p>
        </p:txBody>
      </p:sp>
      <p:sp>
        <p:nvSpPr>
          <p:cNvPr id="6" name="text-2">
            <a:extLst xmlns:a="http://schemas.openxmlformats.org/drawingml/2006/main">
              <a:ext uri="{FF2B5EF4-FFF2-40B4-BE49-F238E27FC236}">
                <a16:creationId xmlns:a16="http://schemas.microsoft.com/office/drawing/2014/main" id="{4107032D-6B05-479A-9CDE-0CC656290E09}"/>
              </a:ext>
            </a:extLst>
          </p:cNvPr>
          <p:cNvSpPr>
            <a:spLocks xmlns:a="http://schemas.openxmlformats.org/drawingml/2006/main" noGrp="1"/>
          </p:cNvSpPr>
          <p:nvPr/>
        </p:nvSpPr>
        <p:spPr>
          <a:xfrm xmlns:a="http://schemas.openxmlformats.org/drawingml/2006/main">
            <a:off x="5934075" y="5276850"/>
            <a:ext cx="5486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67726A"/>
                </a:solidFill>
                <a:latin typeface="DejaVu Sans"/>
                <a:ea typeface="DejaVu Sans"/>
                <a:cs typeface="DejaVu Sans"/>
              </a:defRPr>
            </a:defPPr>
          </a:lstStyle>
          <a:p xmlns:a="http://schemas.openxmlformats.org/drawingml/2006/main">
            <a:pPr algn="r" rtl="1">
              <a:defRPr sz="1800" b="0">
                <a:solidFill>
                  <a:srgbClr val="67726A"/>
                </a:solidFill>
                <a:latin typeface="DejaVu Sans"/>
                <a:ea typeface="DejaVu Sans"/>
                <a:cs typeface="DejaVu Sans"/>
              </a:defRPr>
            </a:pPr>
            <a:r>
              <a:rPr sz="1800" b="0" lang="ar-JO">
                <a:solidFill>
                  <a:srgbClr val="67726A"/>
                </a:solidFill>
                <a:latin typeface="DejaVu Sans"/>
                <a:ea typeface="DejaVu Sans"/>
                <a:cs typeface="DejaVu Sans"/>
              </a:rPr>
              <a:t>اكتشاف الأنشطة المحلية بتوصيات ذكية</a:t>
            </a:r>
          </a:p>
        </p:txBody>
      </p:sp>
      <p:sp>
        <p:nvSpPr>
          <p:cNvPr id="7" name="text-3">
            <a:extLst xmlns:a="http://schemas.openxmlformats.org/drawingml/2006/main">
              <a:ext uri="{FF2B5EF4-FFF2-40B4-BE49-F238E27FC236}">
                <a16:creationId xmlns:a16="http://schemas.microsoft.com/office/drawing/2014/main" id="{8A0B7B85-CE5E-47B9-96A1-63A271DF1C02}"/>
              </a:ext>
            </a:extLst>
          </p:cNvPr>
          <p:cNvSpPr>
            <a:spLocks xmlns:a="http://schemas.openxmlformats.org/drawingml/2006/main" noGrp="1"/>
          </p:cNvSpPr>
          <p:nvPr/>
        </p:nvSpPr>
        <p:spPr>
          <a:xfrm xmlns:a="http://schemas.openxmlformats.org/drawingml/2006/main">
            <a:off x="5981700" y="685800"/>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650" b="0">
                <a:solidFill>
                  <a:srgbClr val="67726A"/>
                </a:solidFill>
                <a:latin typeface="DejaVu Sans"/>
                <a:ea typeface="DejaVu Sans"/>
                <a:cs typeface="DejaVu Sans"/>
              </a:defRPr>
            </a:defPPr>
          </a:lstStyle>
          <a:p xmlns:a="http://schemas.openxmlformats.org/drawingml/2006/main">
            <a:pPr algn="r">
              <a:defRPr sz="1650" b="0">
                <a:solidFill>
                  <a:srgbClr val="67726A"/>
                </a:solidFill>
                <a:latin typeface="DejaVu Sans"/>
                <a:ea typeface="DejaVu Sans"/>
                <a:cs typeface="DejaVu Sans"/>
              </a:defRPr>
            </a:pPr>
            <a:r>
              <a:rPr sz="1650" b="0">
                <a:solidFill>
                  <a:srgbClr val="67726A"/>
                </a:solidFill>
                <a:latin typeface="DejaVu Sans"/>
                <a:ea typeface="DejaVu Sans"/>
                <a:cs typeface="DejaVu Sans"/>
              </a:rPr>
              <a:t>SECTOR 01    next.economy()</a:t>
            </a:r>
          </a:p>
        </p:txBody>
      </p:sp>
    </p:spTree>
    <p:extLst>
      <p:ext uri="{BB962C8B-B14F-4D97-AF65-F5344CB8AC3E}">
        <p14:creationId xmlns:p14="http://schemas.microsoft.com/office/powerpoint/2010/main" val="1790625714"/>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page-2">
            <a:extLst xmlns:a="http://schemas.openxmlformats.org/drawingml/2006/main">
              <a:ext uri="{FF2B5EF4-FFF2-40B4-BE49-F238E27FC236}">
                <a16:creationId xmlns:a16="http://schemas.microsoft.com/office/drawing/2014/main" id="{9989CA6D-A537-403F-A158-441890F691AC}"/>
              </a:ext>
            </a:extLst>
          </p:cNvPr>
          <p:cNvSpPr>
            <a:spLocks xmlns:a="http://schemas.openxmlformats.org/drawingml/2006/main" noGrp="1"/>
          </p:cNvSpPr>
          <p:nvPr/>
        </p:nvSpPr>
        <p:spPr>
          <a:xfrm xmlns:a="http://schemas.openxmlformats.org/drawingml/2006/main">
            <a:off x="685800" y="62865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67726A"/>
                </a:solidFill>
                <a:latin typeface="DejaVu Sans"/>
                <a:ea typeface="DejaVu Sans"/>
                <a:cs typeface="DejaVu Sans"/>
              </a:defRPr>
            </a:defPPr>
          </a:lstStyle>
          <a:p xmlns:a="http://schemas.openxmlformats.org/drawingml/2006/main">
            <a:pPr algn="l">
              <a:defRPr sz="1275" b="0">
                <a:solidFill>
                  <a:srgbClr val="67726A"/>
                </a:solidFill>
                <a:latin typeface="DejaVu Sans"/>
                <a:ea typeface="DejaVu Sans"/>
                <a:cs typeface="DejaVu Sans"/>
              </a:defRPr>
            </a:pPr>
            <a:r>
              <a:rPr sz="1275" b="0">
                <a:solidFill>
                  <a:srgbClr val="67726A"/>
                </a:solidFill>
                <a:latin typeface="DejaVu Sans"/>
                <a:ea typeface="DejaVu Sans"/>
                <a:cs typeface="DejaVu Sans"/>
              </a:rPr>
              <a:t>02</a:t>
            </a:r>
          </a:p>
        </p:txBody>
      </p:sp>
      <p:sp>
        <p:nvSpPr>
          <p:cNvPr id="2" name="slide-title">
            <a:extLst xmlns:a="http://schemas.openxmlformats.org/drawingml/2006/main">
              <a:ext uri="{FF2B5EF4-FFF2-40B4-BE49-F238E27FC236}">
                <a16:creationId xmlns:a16="http://schemas.microsoft.com/office/drawing/2014/main" id="{E2B9F1E2-FA68-46D2-A0A7-F31495C2CA23}"/>
              </a:ext>
            </a:extLst>
          </p:cNvPr>
          <p:cNvSpPr>
            <a:spLocks xmlns:a="http://schemas.openxmlformats.org/drawingml/2006/main" noGrp="1"/>
          </p:cNvSpPr>
          <p:nvPr/>
        </p:nvSpPr>
        <p:spPr>
          <a:xfrm xmlns:a="http://schemas.openxmlformats.org/drawingml/2006/main">
            <a:off x="685800" y="5810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300" b="1">
                <a:solidFill>
                  <a:srgbClr val="173F35"/>
                </a:solidFill>
                <a:latin typeface="DejaVu Sans"/>
                <a:ea typeface="DejaVu Sans"/>
                <a:cs typeface="DejaVu Sans"/>
              </a:defRPr>
            </a:defPPr>
          </a:lstStyle>
          <a:p xmlns:a="http://schemas.openxmlformats.org/drawingml/2006/main">
            <a:pPr algn="r" rtl="1">
              <a:defRPr sz="3300" b="1">
                <a:solidFill>
                  <a:srgbClr val="173F35"/>
                </a:solidFill>
                <a:latin typeface="DejaVu Sans"/>
                <a:ea typeface="DejaVu Sans"/>
                <a:cs typeface="DejaVu Sans"/>
              </a:defRPr>
            </a:pPr>
            <a:r>
              <a:rPr sz="3300" b="1" lang="ar-JO">
                <a:solidFill>
                  <a:srgbClr val="173F35"/>
                </a:solidFill>
                <a:latin typeface="DejaVu Sans"/>
                <a:ea typeface="DejaVu Sans"/>
                <a:cs typeface="DejaVu Sans"/>
              </a:rPr>
              <a:t>المشكلة: الوصول إلى التجارب المحلية</a:t>
            </a:r>
          </a:p>
        </p:txBody>
      </p:sp>
      <p:sp>
        <p:nvSpPr>
          <p:cNvPr id="3" name="text-4">
            <a:extLst xmlns:a="http://schemas.openxmlformats.org/drawingml/2006/main">
              <a:ext uri="{FF2B5EF4-FFF2-40B4-BE49-F238E27FC236}">
                <a16:creationId xmlns:a16="http://schemas.microsoft.com/office/drawing/2014/main" id="{394733C7-9F78-4C30-8DDA-FA7D20C59728}"/>
              </a:ext>
            </a:extLst>
          </p:cNvPr>
          <p:cNvSpPr>
            <a:spLocks xmlns:a="http://schemas.openxmlformats.org/drawingml/2006/main" noGrp="1"/>
          </p:cNvSpPr>
          <p:nvPr/>
        </p:nvSpPr>
        <p:spPr>
          <a:xfrm xmlns:a="http://schemas.openxmlformats.org/drawingml/2006/main">
            <a:off x="6657975" y="2009775"/>
            <a:ext cx="48387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550" b="1">
                <a:solidFill>
                  <a:srgbClr val="C76536"/>
                </a:solidFill>
                <a:latin typeface="DejaVu Sans"/>
                <a:ea typeface="DejaVu Sans"/>
                <a:cs typeface="DejaVu Sans"/>
              </a:defRPr>
            </a:defPPr>
          </a:lstStyle>
          <a:p xmlns:a="http://schemas.openxmlformats.org/drawingml/2006/main">
            <a:pPr algn="r" rtl="1">
              <a:defRPr sz="2550" b="1">
                <a:solidFill>
                  <a:srgbClr val="C76536"/>
                </a:solidFill>
                <a:latin typeface="DejaVu Sans"/>
                <a:ea typeface="DejaVu Sans"/>
                <a:cs typeface="DejaVu Sans"/>
              </a:defRPr>
            </a:pPr>
            <a:r>
              <a:rPr sz="2550" b="1" lang="ar-JO">
                <a:solidFill>
                  <a:srgbClr val="C76536"/>
                </a:solidFill>
                <a:latin typeface="DejaVu Sans"/>
                <a:ea typeface="DejaVu Sans"/>
                <a:cs typeface="DejaVu Sans"/>
              </a:rPr>
              <a:t>الشركات الصغيرة</a:t>
            </a:r>
          </a:p>
        </p:txBody>
      </p:sp>
      <p:sp>
        <p:nvSpPr>
          <p:cNvPr id="4" name="text-5">
            <a:extLst xmlns:a="http://schemas.openxmlformats.org/drawingml/2006/main">
              <a:ext uri="{FF2B5EF4-FFF2-40B4-BE49-F238E27FC236}">
                <a16:creationId xmlns:a16="http://schemas.microsoft.com/office/drawing/2014/main" id="{4070D2CB-09B5-4A56-8213-A86FAE3254A9}"/>
              </a:ext>
            </a:extLst>
          </p:cNvPr>
          <p:cNvSpPr>
            <a:spLocks xmlns:a="http://schemas.openxmlformats.org/drawingml/2006/main" noGrp="1"/>
          </p:cNvSpPr>
          <p:nvPr/>
        </p:nvSpPr>
        <p:spPr>
          <a:xfrm xmlns:a="http://schemas.openxmlformats.org/drawingml/2006/main">
            <a:off x="6505575" y="2733675"/>
            <a:ext cx="49911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250" b="0">
                <a:solidFill>
                  <a:srgbClr val="263B33"/>
                </a:solidFill>
                <a:latin typeface="DejaVu Sans"/>
                <a:ea typeface="DejaVu Sans"/>
                <a:cs typeface="DejaVu Sans"/>
              </a:defRPr>
            </a:defPPr>
          </a:lstStyle>
          <a:p xmlns:a="http://schemas.openxmlformats.org/drawingml/2006/main">
            <a:pPr algn="r" rtl="1">
              <a:defRPr sz="2250" b="0">
                <a:solidFill>
                  <a:srgbClr val="263B33"/>
                </a:solidFill>
                <a:latin typeface="DejaVu Sans"/>
                <a:ea typeface="DejaVu Sans"/>
                <a:cs typeface="DejaVu Sans"/>
              </a:defRPr>
            </a:pPr>
            <a:r>
              <a:rPr sz="2250" b="0" lang="ar-JO">
                <a:solidFill>
                  <a:srgbClr val="263B33"/>
                </a:solidFill>
                <a:latin typeface="DejaVu Sans"/>
                <a:ea typeface="DejaVu Sans"/>
                <a:cs typeface="DejaVu Sans"/>
              </a:rPr>
              <a:t>عندها أنشطة وتجارب،</a:t>
            </a:r>
          </a:p>
          <a:p xmlns:a="http://schemas.openxmlformats.org/drawingml/2006/main">
            <a:pPr algn="r" rtl="1">
              <a:defRPr sz="2250" b="0">
                <a:solidFill>
                  <a:srgbClr val="263B33"/>
                </a:solidFill>
                <a:latin typeface="DejaVu Sans"/>
                <a:ea typeface="DejaVu Sans"/>
                <a:cs typeface="DejaVu Sans"/>
              </a:defRPr>
            </a:pPr>
            <a:r>
              <a:rPr sz="2250" b="0" lang="ar-JO">
                <a:solidFill>
                  <a:srgbClr val="263B33"/>
                </a:solidFill>
                <a:latin typeface="DejaVu Sans"/>
                <a:ea typeface="DejaVu Sans"/>
                <a:cs typeface="DejaVu Sans"/>
              </a:rPr>
              <a:t>لكن الوصول إلى جمهور مهتم</a:t>
            </a:r>
          </a:p>
          <a:p xmlns:a="http://schemas.openxmlformats.org/drawingml/2006/main">
            <a:pPr algn="r" rtl="1">
              <a:defRPr sz="2250" b="0">
                <a:solidFill>
                  <a:srgbClr val="263B33"/>
                </a:solidFill>
                <a:latin typeface="DejaVu Sans"/>
                <a:ea typeface="DejaVu Sans"/>
                <a:cs typeface="DejaVu Sans"/>
              </a:defRPr>
            </a:pPr>
            <a:r>
              <a:rPr sz="2250" b="0" lang="ar-JO">
                <a:solidFill>
                  <a:srgbClr val="263B33"/>
                </a:solidFill>
                <a:latin typeface="DejaVu Sans"/>
                <a:ea typeface="DejaVu Sans"/>
                <a:cs typeface="DejaVu Sans"/>
              </a:rPr>
              <a:t>يحتاج وقتًا وجهدًا تسويقيًا.</a:t>
            </a:r>
          </a:p>
        </p:txBody>
      </p:sp>
      <p:sp>
        <p:nvSpPr>
          <p:cNvPr id="5" name="text-6">
            <a:extLst xmlns:a="http://schemas.openxmlformats.org/drawingml/2006/main">
              <a:ext uri="{FF2B5EF4-FFF2-40B4-BE49-F238E27FC236}">
                <a16:creationId xmlns:a16="http://schemas.microsoft.com/office/drawing/2014/main" id="{2B4EDFF9-6D1B-4657-BFA1-6B1E145460A1}"/>
              </a:ext>
            </a:extLst>
          </p:cNvPr>
          <p:cNvSpPr>
            <a:spLocks xmlns:a="http://schemas.openxmlformats.org/drawingml/2006/main" noGrp="1"/>
          </p:cNvSpPr>
          <p:nvPr/>
        </p:nvSpPr>
        <p:spPr>
          <a:xfrm xmlns:a="http://schemas.openxmlformats.org/drawingml/2006/main">
            <a:off x="790575" y="2009775"/>
            <a:ext cx="47434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550" b="1">
                <a:solidFill>
                  <a:srgbClr val="C76536"/>
                </a:solidFill>
                <a:latin typeface="DejaVu Sans"/>
                <a:ea typeface="DejaVu Sans"/>
                <a:cs typeface="DejaVu Sans"/>
              </a:defRPr>
            </a:defPPr>
          </a:lstStyle>
          <a:p xmlns:a="http://schemas.openxmlformats.org/drawingml/2006/main">
            <a:pPr algn="r" rtl="1">
              <a:defRPr sz="2550" b="1">
                <a:solidFill>
                  <a:srgbClr val="C76536"/>
                </a:solidFill>
                <a:latin typeface="DejaVu Sans"/>
                <a:ea typeface="DejaVu Sans"/>
                <a:cs typeface="DejaVu Sans"/>
              </a:defRPr>
            </a:pPr>
            <a:r>
              <a:rPr sz="2550" b="1" lang="ar-JO">
                <a:solidFill>
                  <a:srgbClr val="C76536"/>
                </a:solidFill>
                <a:latin typeface="DejaVu Sans"/>
                <a:ea typeface="DejaVu Sans"/>
                <a:cs typeface="DejaVu Sans"/>
              </a:rPr>
              <a:t>الناس</a:t>
            </a:r>
          </a:p>
        </p:txBody>
      </p:sp>
      <p:sp>
        <p:nvSpPr>
          <p:cNvPr id="6" name="text-7">
            <a:extLst xmlns:a="http://schemas.openxmlformats.org/drawingml/2006/main">
              <a:ext uri="{FF2B5EF4-FFF2-40B4-BE49-F238E27FC236}">
                <a16:creationId xmlns:a16="http://schemas.microsoft.com/office/drawing/2014/main" id="{C120403F-0EA0-4FDF-AF1D-DA53E3E8ABDB}"/>
              </a:ext>
            </a:extLst>
          </p:cNvPr>
          <p:cNvSpPr>
            <a:spLocks xmlns:a="http://schemas.openxmlformats.org/drawingml/2006/main" noGrp="1"/>
          </p:cNvSpPr>
          <p:nvPr/>
        </p:nvSpPr>
        <p:spPr>
          <a:xfrm xmlns:a="http://schemas.openxmlformats.org/drawingml/2006/main">
            <a:off x="685800" y="2733675"/>
            <a:ext cx="484822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250" b="0">
                <a:solidFill>
                  <a:srgbClr val="263B33"/>
                </a:solidFill>
                <a:latin typeface="DejaVu Sans"/>
                <a:ea typeface="DejaVu Sans"/>
                <a:cs typeface="DejaVu Sans"/>
              </a:defRPr>
            </a:defPPr>
          </a:lstStyle>
          <a:p xmlns:a="http://schemas.openxmlformats.org/drawingml/2006/main">
            <a:pPr algn="r" rtl="1">
              <a:defRPr sz="2250" b="0">
                <a:solidFill>
                  <a:srgbClr val="263B33"/>
                </a:solidFill>
                <a:latin typeface="DejaVu Sans"/>
                <a:ea typeface="DejaVu Sans"/>
                <a:cs typeface="DejaVu Sans"/>
              </a:defRPr>
            </a:pPr>
            <a:r>
              <a:rPr sz="2250" b="0" lang="ar-JO">
                <a:solidFill>
                  <a:srgbClr val="263B33"/>
                </a:solidFill>
                <a:latin typeface="DejaVu Sans"/>
                <a:ea typeface="DejaVu Sans"/>
                <a:cs typeface="DejaVu Sans"/>
              </a:rPr>
              <a:t>بدهم طشّة تناسب اهتمامهم</a:t>
            </a:r>
          </a:p>
          <a:p xmlns:a="http://schemas.openxmlformats.org/drawingml/2006/main">
            <a:pPr algn="r" rtl="1">
              <a:defRPr sz="2250" b="0">
                <a:solidFill>
                  <a:srgbClr val="263B33"/>
                </a:solidFill>
                <a:latin typeface="DejaVu Sans"/>
                <a:ea typeface="DejaVu Sans"/>
                <a:cs typeface="DejaVu Sans"/>
              </a:defRPr>
            </a:pPr>
            <a:r>
              <a:rPr sz="2250" b="0" lang="ar-JO">
                <a:solidFill>
                  <a:srgbClr val="263B33"/>
                </a:solidFill>
                <a:latin typeface="DejaVu Sans"/>
                <a:ea typeface="DejaVu Sans"/>
                <a:cs typeface="DejaVu Sans"/>
              </a:rPr>
              <a:t>وميزانيتهم، والمعلومات</a:t>
            </a:r>
          </a:p>
          <a:p xmlns:a="http://schemas.openxmlformats.org/drawingml/2006/main">
            <a:pPr algn="r" rtl="1">
              <a:defRPr sz="2250" b="0">
                <a:solidFill>
                  <a:srgbClr val="263B33"/>
                </a:solidFill>
                <a:latin typeface="DejaVu Sans"/>
                <a:ea typeface="DejaVu Sans"/>
                <a:cs typeface="DejaVu Sans"/>
              </a:defRPr>
            </a:pPr>
            <a:r>
              <a:rPr sz="2250" b="0" lang="ar-JO">
                <a:solidFill>
                  <a:srgbClr val="263B33"/>
                </a:solidFill>
                <a:latin typeface="DejaVu Sans"/>
                <a:ea typeface="DejaVu Sans"/>
                <a:cs typeface="DejaVu Sans"/>
              </a:rPr>
              <a:t>متفرّقة بين صفحات كثيرة.</a:t>
            </a:r>
          </a:p>
        </p:txBody>
      </p:sp>
      <p:sp>
        <p:nvSpPr>
          <p:cNvPr id="7" name="divider-8">
            <a:extLst xmlns:a="http://schemas.openxmlformats.org/drawingml/2006/main">
              <a:ext uri="{FF2B5EF4-FFF2-40B4-BE49-F238E27FC236}">
                <a16:creationId xmlns:a16="http://schemas.microsoft.com/office/drawing/2014/main" id="{54349966-9C94-4BE2-B0B0-9E0838114554}"/>
              </a:ext>
            </a:extLst>
          </p:cNvPr>
          <p:cNvSpPr>
            <a:spLocks xmlns:a="http://schemas.openxmlformats.org/drawingml/2006/main" noGrp="1"/>
          </p:cNvSpPr>
          <p:nvPr/>
        </p:nvSpPr>
        <p:spPr>
          <a:xfrm xmlns:a="http://schemas.openxmlformats.org/drawingml/2006/main">
            <a:off x="685800" y="4638675"/>
            <a:ext cx="10820400" cy="0"/>
          </a:xfrm>
          <a:prstGeom xmlns:a="http://schemas.openxmlformats.org/drawingml/2006/main" prst="line">
            <a:avLst/>
          </a:prstGeom>
          <a:noFill xmlns:a="http://schemas.openxmlformats.org/drawingml/2006/main"/>
          <a:ln xmlns:a="http://schemas.openxmlformats.org/drawingml/2006/main" w="11430">
            <a:solidFill>
              <a:srgbClr val="D8DDD0"/>
            </a:solidFill>
          </a:ln>
        </p:spPr>
      </p:sp>
      <p:sp>
        <p:nvSpPr>
          <p:cNvPr id="8" name="text-9">
            <a:extLst xmlns:a="http://schemas.openxmlformats.org/drawingml/2006/main">
              <a:ext uri="{FF2B5EF4-FFF2-40B4-BE49-F238E27FC236}">
                <a16:creationId xmlns:a16="http://schemas.microsoft.com/office/drawing/2014/main" id="{E3FC3C9F-288C-480C-AA83-2FA476A216A6}"/>
              </a:ext>
            </a:extLst>
          </p:cNvPr>
          <p:cNvSpPr>
            <a:spLocks xmlns:a="http://schemas.openxmlformats.org/drawingml/2006/main" noGrp="1"/>
          </p:cNvSpPr>
          <p:nvPr/>
        </p:nvSpPr>
        <p:spPr>
          <a:xfrm xmlns:a="http://schemas.openxmlformats.org/drawingml/2006/main">
            <a:off x="685800" y="49339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67726A"/>
                </a:solidFill>
                <a:latin typeface="DejaVu Sans"/>
                <a:ea typeface="DejaVu Sans"/>
                <a:cs typeface="DejaVu Sans"/>
              </a:defRPr>
            </a:defPPr>
          </a:lstStyle>
          <a:p xmlns:a="http://schemas.openxmlformats.org/drawingml/2006/main">
            <a:pPr algn="r" rtl="1">
              <a:defRPr sz="1800" b="0">
                <a:solidFill>
                  <a:srgbClr val="67726A"/>
                </a:solidFill>
                <a:latin typeface="DejaVu Sans"/>
                <a:ea typeface="DejaVu Sans"/>
                <a:cs typeface="DejaVu Sans"/>
              </a:defRPr>
            </a:pPr>
            <a:r>
              <a:rPr sz="1800" b="0" lang="ar-JO">
                <a:solidFill>
                  <a:srgbClr val="67726A"/>
                </a:solidFill>
                <a:latin typeface="DejaVu Sans"/>
                <a:ea typeface="DejaVu Sans"/>
                <a:cs typeface="DejaVu Sans"/>
              </a:rPr>
              <a:t>النتيجة</a:t>
            </a:r>
          </a:p>
        </p:txBody>
      </p:sp>
      <p:sp>
        <p:nvSpPr>
          <p:cNvPr id="9" name="text-10">
            <a:extLst xmlns:a="http://schemas.openxmlformats.org/drawingml/2006/main">
              <a:ext uri="{FF2B5EF4-FFF2-40B4-BE49-F238E27FC236}">
                <a16:creationId xmlns:a16="http://schemas.microsoft.com/office/drawing/2014/main" id="{C86EEB9C-F2CF-4607-AF89-D37C851015B9}"/>
              </a:ext>
            </a:extLst>
          </p:cNvPr>
          <p:cNvSpPr>
            <a:spLocks xmlns:a="http://schemas.openxmlformats.org/drawingml/2006/main" noGrp="1"/>
          </p:cNvSpPr>
          <p:nvPr/>
        </p:nvSpPr>
        <p:spPr>
          <a:xfrm xmlns:a="http://schemas.openxmlformats.org/drawingml/2006/main">
            <a:off x="685800" y="54292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850" b="1">
                <a:solidFill>
                  <a:srgbClr val="173F35"/>
                </a:solidFill>
                <a:latin typeface="DejaVu Sans"/>
                <a:ea typeface="DejaVu Sans"/>
                <a:cs typeface="DejaVu Sans"/>
              </a:defRPr>
            </a:defPPr>
          </a:lstStyle>
          <a:p xmlns:a="http://schemas.openxmlformats.org/drawingml/2006/main">
            <a:pPr algn="r" rtl="1">
              <a:defRPr sz="2850" b="1">
                <a:solidFill>
                  <a:srgbClr val="173F35"/>
                </a:solidFill>
                <a:latin typeface="DejaVu Sans"/>
                <a:ea typeface="DejaVu Sans"/>
                <a:cs typeface="DejaVu Sans"/>
              </a:defRPr>
            </a:pPr>
            <a:r>
              <a:rPr sz="2850" b="1" lang="ar-JO">
                <a:solidFill>
                  <a:srgbClr val="173F35"/>
                </a:solidFill>
                <a:latin typeface="DejaVu Sans"/>
                <a:ea typeface="DejaVu Sans"/>
                <a:cs typeface="DejaVu Sans"/>
              </a:rPr>
              <a:t>فرص إنفاق محلي تضيع قبل ما تبدأ الطشّة</a:t>
            </a:r>
          </a:p>
        </p:txBody>
      </p:sp>
    </p:spTree>
    <p:extLst>
      <p:ext uri="{BB962C8B-B14F-4D97-AF65-F5344CB8AC3E}">
        <p14:creationId xmlns:p14="http://schemas.microsoft.com/office/powerpoint/2010/main" val="1677069871"/>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5" name="page-3">
            <a:extLst xmlns:a="http://schemas.openxmlformats.org/drawingml/2006/main">
              <a:ext uri="{FF2B5EF4-FFF2-40B4-BE49-F238E27FC236}">
                <a16:creationId xmlns:a16="http://schemas.microsoft.com/office/drawing/2014/main" id="{A499D55F-D664-4F23-99E0-5723407606A6}"/>
              </a:ext>
            </a:extLst>
          </p:cNvPr>
          <p:cNvSpPr>
            <a:spLocks xmlns:a="http://schemas.openxmlformats.org/drawingml/2006/main" noGrp="1"/>
          </p:cNvSpPr>
          <p:nvPr/>
        </p:nvSpPr>
        <p:spPr>
          <a:xfrm xmlns:a="http://schemas.openxmlformats.org/drawingml/2006/main">
            <a:off x="685800" y="62865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67726A"/>
                </a:solidFill>
                <a:latin typeface="DejaVu Sans"/>
                <a:ea typeface="DejaVu Sans"/>
                <a:cs typeface="DejaVu Sans"/>
              </a:defRPr>
            </a:defPPr>
          </a:lstStyle>
          <a:p xmlns:a="http://schemas.openxmlformats.org/drawingml/2006/main">
            <a:pPr algn="l">
              <a:defRPr sz="1275" b="0">
                <a:solidFill>
                  <a:srgbClr val="67726A"/>
                </a:solidFill>
                <a:latin typeface="DejaVu Sans"/>
                <a:ea typeface="DejaVu Sans"/>
                <a:cs typeface="DejaVu Sans"/>
              </a:defRPr>
            </a:pPr>
            <a:r>
              <a:rPr sz="1275" b="0">
                <a:solidFill>
                  <a:srgbClr val="67726A"/>
                </a:solidFill>
                <a:latin typeface="DejaVu Sans"/>
                <a:ea typeface="DejaVu Sans"/>
                <a:cs typeface="DejaVu Sans"/>
              </a:rPr>
              <a:t>03</a:t>
            </a:r>
          </a:p>
        </p:txBody>
      </p:sp>
      <p:sp>
        <p:nvSpPr>
          <p:cNvPr id="2" name="slide-title">
            <a:extLst xmlns:a="http://schemas.openxmlformats.org/drawingml/2006/main">
              <a:ext uri="{FF2B5EF4-FFF2-40B4-BE49-F238E27FC236}">
                <a16:creationId xmlns:a16="http://schemas.microsoft.com/office/drawing/2014/main" id="{C1A15A4C-CB4E-4F95-ABB3-5D4EACA32F51}"/>
              </a:ext>
            </a:extLst>
          </p:cNvPr>
          <p:cNvSpPr>
            <a:spLocks xmlns:a="http://schemas.openxmlformats.org/drawingml/2006/main" noGrp="1"/>
          </p:cNvSpPr>
          <p:nvPr/>
        </p:nvSpPr>
        <p:spPr>
          <a:xfrm xmlns:a="http://schemas.openxmlformats.org/drawingml/2006/main">
            <a:off x="685800" y="5810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300" b="1">
                <a:solidFill>
                  <a:srgbClr val="173F35"/>
                </a:solidFill>
                <a:latin typeface="DejaVu Sans"/>
                <a:ea typeface="DejaVu Sans"/>
                <a:cs typeface="DejaVu Sans"/>
              </a:defRPr>
            </a:defPPr>
          </a:lstStyle>
          <a:p xmlns:a="http://schemas.openxmlformats.org/drawingml/2006/main">
            <a:pPr algn="r" rtl="1">
              <a:defRPr sz="3300" b="1">
                <a:solidFill>
                  <a:srgbClr val="173F35"/>
                </a:solidFill>
                <a:latin typeface="DejaVu Sans"/>
                <a:ea typeface="DejaVu Sans"/>
                <a:cs typeface="DejaVu Sans"/>
              </a:defRPr>
            </a:pPr>
            <a:r>
              <a:rPr sz="3300" b="1" lang="ar-JO">
                <a:solidFill>
                  <a:srgbClr val="173F35"/>
                </a:solidFill>
                <a:latin typeface="DejaVu Sans"/>
                <a:ea typeface="DejaVu Sans"/>
                <a:cs typeface="DejaVu Sans"/>
              </a:rPr>
              <a:t>الحل: طشّة تجمع العرض والطلب</a:t>
            </a:r>
          </a:p>
        </p:txBody>
      </p:sp>
      <p:sp>
        <p:nvSpPr>
          <p:cNvPr id="3" name="text-11">
            <a:extLst xmlns:a="http://schemas.openxmlformats.org/drawingml/2006/main">
              <a:ext uri="{FF2B5EF4-FFF2-40B4-BE49-F238E27FC236}">
                <a16:creationId xmlns:a16="http://schemas.microsoft.com/office/drawing/2014/main" id="{5B5949D7-80C9-40CB-A490-F78D83B4614C}"/>
              </a:ext>
            </a:extLst>
          </p:cNvPr>
          <p:cNvSpPr>
            <a:spLocks xmlns:a="http://schemas.openxmlformats.org/drawingml/2006/main" noGrp="1"/>
          </p:cNvSpPr>
          <p:nvPr/>
        </p:nvSpPr>
        <p:spPr>
          <a:xfrm xmlns:a="http://schemas.openxmlformats.org/drawingml/2006/main">
            <a:off x="8001000" y="1962150"/>
            <a:ext cx="335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4875" b="0">
                <a:solidFill>
                  <a:srgbClr val="C76536"/>
                </a:solidFill>
                <a:latin typeface="DejaVu Sans"/>
                <a:ea typeface="DejaVu Sans"/>
                <a:cs typeface="DejaVu Sans"/>
              </a:defRPr>
            </a:defPPr>
          </a:lstStyle>
          <a:p xmlns:a="http://schemas.openxmlformats.org/drawingml/2006/main">
            <a:pPr algn="r">
              <a:defRPr sz="4875" b="0">
                <a:solidFill>
                  <a:srgbClr val="C76536"/>
                </a:solidFill>
                <a:latin typeface="DejaVu Sans"/>
                <a:ea typeface="DejaVu Sans"/>
                <a:cs typeface="DejaVu Sans"/>
              </a:defRPr>
            </a:pPr>
            <a:r>
              <a:rPr sz="4875" b="0">
                <a:solidFill>
                  <a:srgbClr val="C76536"/>
                </a:solidFill>
                <a:latin typeface="DejaVu Sans"/>
                <a:ea typeface="DejaVu Sans"/>
                <a:cs typeface="DejaVu Sans"/>
              </a:rPr>
              <a:t>01</a:t>
            </a:r>
          </a:p>
        </p:txBody>
      </p:sp>
      <p:sp>
        <p:nvSpPr>
          <p:cNvPr id="4" name="text-12">
            <a:extLst xmlns:a="http://schemas.openxmlformats.org/drawingml/2006/main">
              <a:ext uri="{FF2B5EF4-FFF2-40B4-BE49-F238E27FC236}">
                <a16:creationId xmlns:a16="http://schemas.microsoft.com/office/drawing/2014/main" id="{D35B51EC-A28B-4AFE-8F20-35931C951F5F}"/>
              </a:ext>
            </a:extLst>
          </p:cNvPr>
          <p:cNvSpPr>
            <a:spLocks xmlns:a="http://schemas.openxmlformats.org/drawingml/2006/main" noGrp="1"/>
          </p:cNvSpPr>
          <p:nvPr/>
        </p:nvSpPr>
        <p:spPr>
          <a:xfrm xmlns:a="http://schemas.openxmlformats.org/drawingml/2006/main">
            <a:off x="8001000" y="3114675"/>
            <a:ext cx="335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325" b="1">
                <a:solidFill>
                  <a:srgbClr val="173F35"/>
                </a:solidFill>
                <a:latin typeface="DejaVu Sans"/>
                <a:ea typeface="DejaVu Sans"/>
                <a:cs typeface="DejaVu Sans"/>
              </a:defRPr>
            </a:defPPr>
          </a:lstStyle>
          <a:p xmlns:a="http://schemas.openxmlformats.org/drawingml/2006/main">
            <a:pPr algn="r" rtl="1">
              <a:defRPr sz="2325" b="1">
                <a:solidFill>
                  <a:srgbClr val="173F35"/>
                </a:solidFill>
                <a:latin typeface="DejaVu Sans"/>
                <a:ea typeface="DejaVu Sans"/>
                <a:cs typeface="DejaVu Sans"/>
              </a:defRPr>
            </a:pPr>
            <a:r>
              <a:rPr sz="2325" b="1" lang="ar-JO">
                <a:solidFill>
                  <a:srgbClr val="173F35"/>
                </a:solidFill>
                <a:latin typeface="DejaVu Sans"/>
                <a:ea typeface="DejaVu Sans"/>
                <a:cs typeface="DejaVu Sans"/>
              </a:rPr>
              <a:t>الشركة تنشر</a:t>
            </a:r>
          </a:p>
        </p:txBody>
      </p:sp>
      <p:sp>
        <p:nvSpPr>
          <p:cNvPr id="5" name="text-13">
            <a:extLst xmlns:a="http://schemas.openxmlformats.org/drawingml/2006/main">
              <a:ext uri="{FF2B5EF4-FFF2-40B4-BE49-F238E27FC236}">
                <a16:creationId xmlns:a16="http://schemas.microsoft.com/office/drawing/2014/main" id="{79EF2E34-673E-4F5F-A093-6EA3E19EC9C4}"/>
              </a:ext>
            </a:extLst>
          </p:cNvPr>
          <p:cNvSpPr>
            <a:spLocks xmlns:a="http://schemas.openxmlformats.org/drawingml/2006/main" noGrp="1"/>
          </p:cNvSpPr>
          <p:nvPr/>
        </p:nvSpPr>
        <p:spPr>
          <a:xfrm xmlns:a="http://schemas.openxmlformats.org/drawingml/2006/main">
            <a:off x="8001000" y="3781425"/>
            <a:ext cx="335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0">
                <a:solidFill>
                  <a:srgbClr val="263B33"/>
                </a:solidFill>
                <a:latin typeface="DejaVu Sans"/>
                <a:ea typeface="DejaVu Sans"/>
                <a:cs typeface="DejaVu Sans"/>
              </a:defRPr>
            </a:defPPr>
          </a:lstStyle>
          <a:p xmlns:a="http://schemas.openxmlformats.org/drawingml/2006/main">
            <a:pPr algn="r" rtl="1">
              <a:defRPr sz="2025" b="0">
                <a:solidFill>
                  <a:srgbClr val="263B33"/>
                </a:solidFill>
                <a:latin typeface="DejaVu Sans"/>
                <a:ea typeface="DejaVu Sans"/>
                <a:cs typeface="DejaVu Sans"/>
              </a:defRPr>
            </a:pPr>
            <a:r>
              <a:rPr sz="2025" b="0" lang="ar-JO">
                <a:solidFill>
                  <a:srgbClr val="263B33"/>
                </a:solidFill>
                <a:latin typeface="DejaVu Sans"/>
                <a:ea typeface="DejaVu Sans"/>
                <a:cs typeface="DejaVu Sans"/>
              </a:rPr>
              <a:t>نشاطها وموقعه وسعره</a:t>
            </a:r>
          </a:p>
          <a:p xmlns:a="http://schemas.openxmlformats.org/drawingml/2006/main">
            <a:pPr algn="r" rtl="1">
              <a:defRPr sz="2025" b="0">
                <a:solidFill>
                  <a:srgbClr val="263B33"/>
                </a:solidFill>
                <a:latin typeface="DejaVu Sans"/>
                <a:ea typeface="DejaVu Sans"/>
                <a:cs typeface="DejaVu Sans"/>
              </a:defRPr>
            </a:pPr>
            <a:r>
              <a:rPr sz="2025" b="0" lang="ar-JO">
                <a:solidFill>
                  <a:srgbClr val="263B33"/>
                </a:solidFill>
                <a:latin typeface="DejaVu Sans"/>
                <a:ea typeface="DejaVu Sans"/>
                <a:cs typeface="DejaVu Sans"/>
              </a:rPr>
              <a:t>وبياناتها الأساسية</a:t>
            </a:r>
          </a:p>
        </p:txBody>
      </p:sp>
      <p:sp>
        <p:nvSpPr>
          <p:cNvPr id="6" name="text-14">
            <a:extLst xmlns:a="http://schemas.openxmlformats.org/drawingml/2006/main">
              <a:ext uri="{FF2B5EF4-FFF2-40B4-BE49-F238E27FC236}">
                <a16:creationId xmlns:a16="http://schemas.microsoft.com/office/drawing/2014/main" id="{29C5563B-94C6-4D74-9F37-64D5F4EDD576}"/>
              </a:ext>
            </a:extLst>
          </p:cNvPr>
          <p:cNvSpPr>
            <a:spLocks xmlns:a="http://schemas.openxmlformats.org/drawingml/2006/main" noGrp="1"/>
          </p:cNvSpPr>
          <p:nvPr/>
        </p:nvSpPr>
        <p:spPr>
          <a:xfrm xmlns:a="http://schemas.openxmlformats.org/drawingml/2006/main">
            <a:off x="4305300" y="1962150"/>
            <a:ext cx="335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4875" b="0">
                <a:solidFill>
                  <a:srgbClr val="C76536"/>
                </a:solidFill>
                <a:latin typeface="DejaVu Sans"/>
                <a:ea typeface="DejaVu Sans"/>
                <a:cs typeface="DejaVu Sans"/>
              </a:defRPr>
            </a:defPPr>
          </a:lstStyle>
          <a:p xmlns:a="http://schemas.openxmlformats.org/drawingml/2006/main">
            <a:pPr algn="r">
              <a:defRPr sz="4875" b="0">
                <a:solidFill>
                  <a:srgbClr val="C76536"/>
                </a:solidFill>
                <a:latin typeface="DejaVu Sans"/>
                <a:ea typeface="DejaVu Sans"/>
                <a:cs typeface="DejaVu Sans"/>
              </a:defRPr>
            </a:pPr>
            <a:r>
              <a:rPr sz="4875" b="0">
                <a:solidFill>
                  <a:srgbClr val="C76536"/>
                </a:solidFill>
                <a:latin typeface="DejaVu Sans"/>
                <a:ea typeface="DejaVu Sans"/>
                <a:cs typeface="DejaVu Sans"/>
              </a:rPr>
              <a:t>02</a:t>
            </a:r>
          </a:p>
        </p:txBody>
      </p:sp>
      <p:sp>
        <p:nvSpPr>
          <p:cNvPr id="7" name="text-15">
            <a:extLst xmlns:a="http://schemas.openxmlformats.org/drawingml/2006/main">
              <a:ext uri="{FF2B5EF4-FFF2-40B4-BE49-F238E27FC236}">
                <a16:creationId xmlns:a16="http://schemas.microsoft.com/office/drawing/2014/main" id="{9569F5CD-0CB0-4CE1-9B38-29509D96A745}"/>
              </a:ext>
            </a:extLst>
          </p:cNvPr>
          <p:cNvSpPr>
            <a:spLocks xmlns:a="http://schemas.openxmlformats.org/drawingml/2006/main" noGrp="1"/>
          </p:cNvSpPr>
          <p:nvPr/>
        </p:nvSpPr>
        <p:spPr>
          <a:xfrm xmlns:a="http://schemas.openxmlformats.org/drawingml/2006/main">
            <a:off x="4305300" y="3114675"/>
            <a:ext cx="335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325" b="1">
                <a:solidFill>
                  <a:srgbClr val="173F35"/>
                </a:solidFill>
                <a:latin typeface="DejaVu Sans"/>
                <a:ea typeface="DejaVu Sans"/>
                <a:cs typeface="DejaVu Sans"/>
              </a:defRPr>
            </a:defPPr>
          </a:lstStyle>
          <a:p xmlns:a="http://schemas.openxmlformats.org/drawingml/2006/main">
            <a:pPr algn="r" rtl="1">
              <a:defRPr sz="2325" b="1">
                <a:solidFill>
                  <a:srgbClr val="173F35"/>
                </a:solidFill>
                <a:latin typeface="DejaVu Sans"/>
                <a:ea typeface="DejaVu Sans"/>
                <a:cs typeface="DejaVu Sans"/>
              </a:defRPr>
            </a:pPr>
            <a:r>
              <a:rPr sz="2325" b="1" lang="ar-JO">
                <a:solidFill>
                  <a:srgbClr val="173F35"/>
                </a:solidFill>
                <a:latin typeface="DejaVu Sans"/>
                <a:ea typeface="DejaVu Sans"/>
                <a:cs typeface="DejaVu Sans"/>
              </a:rPr>
              <a:t>المستخدم يحدد</a:t>
            </a:r>
          </a:p>
        </p:txBody>
      </p:sp>
      <p:sp>
        <p:nvSpPr>
          <p:cNvPr id="8" name="text-16">
            <a:extLst xmlns:a="http://schemas.openxmlformats.org/drawingml/2006/main">
              <a:ext uri="{FF2B5EF4-FFF2-40B4-BE49-F238E27FC236}">
                <a16:creationId xmlns:a16="http://schemas.microsoft.com/office/drawing/2014/main" id="{97EA7DB3-EF54-46A4-9BCC-CB193D173A40}"/>
              </a:ext>
            </a:extLst>
          </p:cNvPr>
          <p:cNvSpPr>
            <a:spLocks xmlns:a="http://schemas.openxmlformats.org/drawingml/2006/main" noGrp="1"/>
          </p:cNvSpPr>
          <p:nvPr/>
        </p:nvSpPr>
        <p:spPr>
          <a:xfrm xmlns:a="http://schemas.openxmlformats.org/drawingml/2006/main">
            <a:off x="4305300" y="3781425"/>
            <a:ext cx="335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0">
                <a:solidFill>
                  <a:srgbClr val="263B33"/>
                </a:solidFill>
                <a:latin typeface="DejaVu Sans"/>
                <a:ea typeface="DejaVu Sans"/>
                <a:cs typeface="DejaVu Sans"/>
              </a:defRPr>
            </a:defPPr>
          </a:lstStyle>
          <a:p xmlns:a="http://schemas.openxmlformats.org/drawingml/2006/main">
            <a:pPr algn="r" rtl="1">
              <a:defRPr sz="2025" b="0">
                <a:solidFill>
                  <a:srgbClr val="263B33"/>
                </a:solidFill>
                <a:latin typeface="DejaVu Sans"/>
                <a:ea typeface="DejaVu Sans"/>
                <a:cs typeface="DejaVu Sans"/>
              </a:defRPr>
            </a:pPr>
            <a:r>
              <a:rPr sz="2025" b="0" lang="ar-JO">
                <a:solidFill>
                  <a:srgbClr val="263B33"/>
                </a:solidFill>
                <a:latin typeface="DejaVu Sans"/>
                <a:ea typeface="DejaVu Sans"/>
                <a:cs typeface="DejaVu Sans"/>
              </a:rPr>
              <a:t>اهتماماته ومكانه</a:t>
            </a:r>
          </a:p>
          <a:p xmlns:a="http://schemas.openxmlformats.org/drawingml/2006/main">
            <a:pPr algn="r" rtl="1">
              <a:defRPr sz="2025" b="0">
                <a:solidFill>
                  <a:srgbClr val="263B33"/>
                </a:solidFill>
                <a:latin typeface="DejaVu Sans"/>
                <a:ea typeface="DejaVu Sans"/>
                <a:cs typeface="DejaVu Sans"/>
              </a:defRPr>
            </a:pPr>
            <a:r>
              <a:rPr sz="2025" b="0" lang="ar-JO">
                <a:solidFill>
                  <a:srgbClr val="263B33"/>
                </a:solidFill>
                <a:latin typeface="DejaVu Sans"/>
                <a:ea typeface="DejaVu Sans"/>
                <a:cs typeface="DejaVu Sans"/>
              </a:rPr>
              <a:t>وميزانيته</a:t>
            </a:r>
          </a:p>
        </p:txBody>
      </p:sp>
      <p:sp>
        <p:nvSpPr>
          <p:cNvPr id="9" name="text-17">
            <a:extLst xmlns:a="http://schemas.openxmlformats.org/drawingml/2006/main">
              <a:ext uri="{FF2B5EF4-FFF2-40B4-BE49-F238E27FC236}">
                <a16:creationId xmlns:a16="http://schemas.microsoft.com/office/drawing/2014/main" id="{B57A26FE-3D20-4B65-85C0-7CC58CC2E666}"/>
              </a:ext>
            </a:extLst>
          </p:cNvPr>
          <p:cNvSpPr>
            <a:spLocks xmlns:a="http://schemas.openxmlformats.org/drawingml/2006/main" noGrp="1"/>
          </p:cNvSpPr>
          <p:nvPr/>
        </p:nvSpPr>
        <p:spPr>
          <a:xfrm xmlns:a="http://schemas.openxmlformats.org/drawingml/2006/main">
            <a:off x="609600" y="1962150"/>
            <a:ext cx="335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4875" b="0">
                <a:solidFill>
                  <a:srgbClr val="C76536"/>
                </a:solidFill>
                <a:latin typeface="DejaVu Sans"/>
                <a:ea typeface="DejaVu Sans"/>
                <a:cs typeface="DejaVu Sans"/>
              </a:defRPr>
            </a:defPPr>
          </a:lstStyle>
          <a:p xmlns:a="http://schemas.openxmlformats.org/drawingml/2006/main">
            <a:pPr algn="r">
              <a:defRPr sz="4875" b="0">
                <a:solidFill>
                  <a:srgbClr val="C76536"/>
                </a:solidFill>
                <a:latin typeface="DejaVu Sans"/>
                <a:ea typeface="DejaVu Sans"/>
                <a:cs typeface="DejaVu Sans"/>
              </a:defRPr>
            </a:pPr>
            <a:r>
              <a:rPr sz="4875" b="0">
                <a:solidFill>
                  <a:srgbClr val="C76536"/>
                </a:solidFill>
                <a:latin typeface="DejaVu Sans"/>
                <a:ea typeface="DejaVu Sans"/>
                <a:cs typeface="DejaVu Sans"/>
              </a:rPr>
              <a:t>03</a:t>
            </a:r>
          </a:p>
        </p:txBody>
      </p:sp>
      <p:sp>
        <p:nvSpPr>
          <p:cNvPr id="10" name="text-18">
            <a:extLst xmlns:a="http://schemas.openxmlformats.org/drawingml/2006/main">
              <a:ext uri="{FF2B5EF4-FFF2-40B4-BE49-F238E27FC236}">
                <a16:creationId xmlns:a16="http://schemas.microsoft.com/office/drawing/2014/main" id="{D09AE3AF-586A-4D16-90E4-2035EBFEA790}"/>
              </a:ext>
            </a:extLst>
          </p:cNvPr>
          <p:cNvSpPr>
            <a:spLocks xmlns:a="http://schemas.openxmlformats.org/drawingml/2006/main" noGrp="1"/>
          </p:cNvSpPr>
          <p:nvPr/>
        </p:nvSpPr>
        <p:spPr>
          <a:xfrm xmlns:a="http://schemas.openxmlformats.org/drawingml/2006/main">
            <a:off x="609600" y="3114675"/>
            <a:ext cx="335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325" b="1">
                <a:solidFill>
                  <a:srgbClr val="173F35"/>
                </a:solidFill>
                <a:latin typeface="DejaVu Sans"/>
                <a:ea typeface="DejaVu Sans"/>
                <a:cs typeface="DejaVu Sans"/>
              </a:defRPr>
            </a:defPPr>
          </a:lstStyle>
          <a:p xmlns:a="http://schemas.openxmlformats.org/drawingml/2006/main">
            <a:pPr algn="r" rtl="1">
              <a:defRPr sz="2325" b="1">
                <a:solidFill>
                  <a:srgbClr val="173F35"/>
                </a:solidFill>
                <a:latin typeface="DejaVu Sans"/>
                <a:ea typeface="DejaVu Sans"/>
                <a:cs typeface="DejaVu Sans"/>
              </a:defRPr>
            </a:pPr>
            <a:r>
              <a:rPr sz="2325" b="1" lang="ar-JO">
                <a:solidFill>
                  <a:srgbClr val="173F35"/>
                </a:solidFill>
                <a:latin typeface="DejaVu Sans"/>
                <a:ea typeface="DejaVu Sans"/>
                <a:cs typeface="DejaVu Sans"/>
              </a:rPr>
              <a:t>توصية أنسب</a:t>
            </a:r>
          </a:p>
        </p:txBody>
      </p:sp>
      <p:sp>
        <p:nvSpPr>
          <p:cNvPr id="11" name="text-19">
            <a:extLst xmlns:a="http://schemas.openxmlformats.org/drawingml/2006/main">
              <a:ext uri="{FF2B5EF4-FFF2-40B4-BE49-F238E27FC236}">
                <a16:creationId xmlns:a16="http://schemas.microsoft.com/office/drawing/2014/main" id="{8D207306-D989-40B9-B607-04941771F80A}"/>
              </a:ext>
            </a:extLst>
          </p:cNvPr>
          <p:cNvSpPr>
            <a:spLocks xmlns:a="http://schemas.openxmlformats.org/drawingml/2006/main" noGrp="1"/>
          </p:cNvSpPr>
          <p:nvPr/>
        </p:nvSpPr>
        <p:spPr>
          <a:xfrm xmlns:a="http://schemas.openxmlformats.org/drawingml/2006/main">
            <a:off x="609600" y="3781425"/>
            <a:ext cx="335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0">
                <a:solidFill>
                  <a:srgbClr val="263B33"/>
                </a:solidFill>
                <a:latin typeface="DejaVu Sans"/>
                <a:ea typeface="DejaVu Sans"/>
                <a:cs typeface="DejaVu Sans"/>
              </a:defRPr>
            </a:defPPr>
          </a:lstStyle>
          <a:p xmlns:a="http://schemas.openxmlformats.org/drawingml/2006/main">
            <a:pPr algn="r" rtl="1">
              <a:defRPr sz="2025" b="0">
                <a:solidFill>
                  <a:srgbClr val="263B33"/>
                </a:solidFill>
                <a:latin typeface="DejaVu Sans"/>
                <a:ea typeface="DejaVu Sans"/>
                <a:cs typeface="DejaVu Sans"/>
              </a:defRPr>
            </a:pPr>
            <a:r>
              <a:rPr sz="2025" b="0" lang="ar-JO">
                <a:solidFill>
                  <a:srgbClr val="263B33"/>
                </a:solidFill>
                <a:latin typeface="DejaVu Sans"/>
                <a:ea typeface="DejaVu Sans"/>
                <a:cs typeface="DejaVu Sans"/>
              </a:rPr>
              <a:t>أنشطة من المنصّة</a:t>
            </a:r>
          </a:p>
          <a:p xmlns:a="http://schemas.openxmlformats.org/drawingml/2006/main">
            <a:pPr algn="r" rtl="1">
              <a:defRPr sz="2025" b="0">
                <a:solidFill>
                  <a:srgbClr val="263B33"/>
                </a:solidFill>
                <a:latin typeface="DejaVu Sans"/>
                <a:ea typeface="DejaVu Sans"/>
                <a:cs typeface="DejaVu Sans"/>
              </a:defRPr>
            </a:pPr>
            <a:r>
              <a:rPr sz="2025" b="0" lang="ar-JO">
                <a:solidFill>
                  <a:srgbClr val="263B33"/>
                </a:solidFill>
                <a:latin typeface="DejaVu Sans"/>
                <a:ea typeface="DejaVu Sans"/>
                <a:cs typeface="DejaVu Sans"/>
              </a:rPr>
              <a:t>مع سبب الترشيح</a:t>
            </a:r>
          </a:p>
        </p:txBody>
      </p:sp>
      <p:sp>
        <p:nvSpPr>
          <p:cNvPr id="12" name="divider-20">
            <a:extLst xmlns:a="http://schemas.openxmlformats.org/drawingml/2006/main">
              <a:ext uri="{FF2B5EF4-FFF2-40B4-BE49-F238E27FC236}">
                <a16:creationId xmlns:a16="http://schemas.microsoft.com/office/drawing/2014/main" id="{4B8BC6E6-E28E-49B2-9D48-22822FA64805}"/>
              </a:ext>
            </a:extLst>
          </p:cNvPr>
          <p:cNvSpPr>
            <a:spLocks xmlns:a="http://schemas.openxmlformats.org/drawingml/2006/main" noGrp="1"/>
          </p:cNvSpPr>
          <p:nvPr/>
        </p:nvSpPr>
        <p:spPr>
          <a:xfrm xmlns:a="http://schemas.openxmlformats.org/drawingml/2006/main">
            <a:off x="685800" y="5219700"/>
            <a:ext cx="10820400" cy="0"/>
          </a:xfrm>
          <a:prstGeom xmlns:a="http://schemas.openxmlformats.org/drawingml/2006/main" prst="line">
            <a:avLst/>
          </a:prstGeom>
          <a:noFill xmlns:a="http://schemas.openxmlformats.org/drawingml/2006/main"/>
          <a:ln xmlns:a="http://schemas.openxmlformats.org/drawingml/2006/main" w="11430">
            <a:solidFill>
              <a:srgbClr val="D8DDD0"/>
            </a:solidFill>
          </a:ln>
        </p:spPr>
      </p:sp>
      <p:sp>
        <p:nvSpPr>
          <p:cNvPr id="13" name="text-21">
            <a:extLst xmlns:a="http://schemas.openxmlformats.org/drawingml/2006/main">
              <a:ext uri="{FF2B5EF4-FFF2-40B4-BE49-F238E27FC236}">
                <a16:creationId xmlns:a16="http://schemas.microsoft.com/office/drawing/2014/main" id="{C943E6D9-A570-4955-A63D-36EEF431711C}"/>
              </a:ext>
            </a:extLst>
          </p:cNvPr>
          <p:cNvSpPr>
            <a:spLocks xmlns:a="http://schemas.openxmlformats.org/drawingml/2006/main" noGrp="1"/>
          </p:cNvSpPr>
          <p:nvPr/>
        </p:nvSpPr>
        <p:spPr>
          <a:xfrm xmlns:a="http://schemas.openxmlformats.org/drawingml/2006/main">
            <a:off x="685800" y="5429250"/>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725" b="0">
                <a:solidFill>
                  <a:srgbClr val="67726A"/>
                </a:solidFill>
                <a:latin typeface="DejaVu Sans"/>
                <a:ea typeface="DejaVu Sans"/>
                <a:cs typeface="DejaVu Sans"/>
              </a:defRPr>
            </a:defPPr>
          </a:lstStyle>
          <a:p xmlns:a="http://schemas.openxmlformats.org/drawingml/2006/main">
            <a:pPr algn="r" rtl="1">
              <a:defRPr sz="1725" b="0">
                <a:solidFill>
                  <a:srgbClr val="67726A"/>
                </a:solidFill>
                <a:latin typeface="DejaVu Sans"/>
                <a:ea typeface="DejaVu Sans"/>
                <a:cs typeface="DejaVu Sans"/>
              </a:defRPr>
            </a:pPr>
            <a:r>
              <a:rPr sz="1725" b="0" lang="ar-JO">
                <a:solidFill>
                  <a:srgbClr val="67726A"/>
                </a:solidFill>
                <a:latin typeface="DejaVu Sans"/>
                <a:ea typeface="DejaVu Sans"/>
                <a:cs typeface="DejaVu Sans"/>
              </a:rPr>
              <a:t>قيمة أول استخدام</a:t>
            </a:r>
          </a:p>
        </p:txBody>
      </p:sp>
      <p:sp>
        <p:nvSpPr>
          <p:cNvPr id="14" name="text-22">
            <a:extLst xmlns:a="http://schemas.openxmlformats.org/drawingml/2006/main">
              <a:ext uri="{FF2B5EF4-FFF2-40B4-BE49-F238E27FC236}">
                <a16:creationId xmlns:a16="http://schemas.microsoft.com/office/drawing/2014/main" id="{16BD6B75-426D-435F-9031-65699B9151BC}"/>
              </a:ext>
            </a:extLst>
          </p:cNvPr>
          <p:cNvSpPr>
            <a:spLocks xmlns:a="http://schemas.openxmlformats.org/drawingml/2006/main" noGrp="1"/>
          </p:cNvSpPr>
          <p:nvPr/>
        </p:nvSpPr>
        <p:spPr>
          <a:xfrm xmlns:a="http://schemas.openxmlformats.org/drawingml/2006/main">
            <a:off x="685800" y="58483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400" b="1">
                <a:solidFill>
                  <a:srgbClr val="173F35"/>
                </a:solidFill>
                <a:latin typeface="DejaVu Sans"/>
                <a:ea typeface="DejaVu Sans"/>
                <a:cs typeface="DejaVu Sans"/>
              </a:defRPr>
            </a:defPPr>
          </a:lstStyle>
          <a:p xmlns:a="http://schemas.openxmlformats.org/drawingml/2006/main">
            <a:pPr algn="r" rtl="1">
              <a:defRPr sz="2400" b="1">
                <a:solidFill>
                  <a:srgbClr val="173F35"/>
                </a:solidFill>
                <a:latin typeface="DejaVu Sans"/>
                <a:ea typeface="DejaVu Sans"/>
                <a:cs typeface="DejaVu Sans"/>
              </a:defRPr>
            </a:pPr>
            <a:r>
              <a:rPr sz="2400" b="1" lang="ar-JO">
                <a:solidFill>
                  <a:srgbClr val="173F35"/>
                </a:solidFill>
                <a:latin typeface="DejaVu Sans"/>
                <a:ea typeface="DejaVu Sans"/>
                <a:cs typeface="DejaVu Sans"/>
              </a:rPr>
              <a:t>خيارات أوضح للزائر ووصول أفضل للشركة</a:t>
            </a:r>
          </a:p>
        </p:txBody>
      </p:sp>
    </p:spTree>
    <p:extLst>
      <p:ext uri="{BB962C8B-B14F-4D97-AF65-F5344CB8AC3E}">
        <p14:creationId xmlns:p14="http://schemas.microsoft.com/office/powerpoint/2010/main" val="2022824930"/>
      </p:ext>
    </p:extLst>
  </p:cSld>
</p:sld>
</file>

<file path=ppt/slides/slide4.xml><?xml version="1.0" encoding="utf-8"?>
<p:sld xmlns:p="http://schemas.openxmlformats.org/presentationml/2006/main">
  <p:cSld>
    <p:bg>
      <p:bgPr>
        <a:solidFill xmlns:a="http://schemas.openxmlformats.org/drawingml/2006/main">
          <a:srgbClr val="173F35"/>
        </a:solidFill>
      </p:bgPr>
    </p:bg>
    <p:spTree>
      <p:nvGrpSpPr>
        <p:cNvPr id="1" name=""/>
        <p:cNvGrpSpPr/>
        <p:nvPr/>
      </p:nvGrpSpPr>
      <p:grpSpPr>
        <a:xfrm xmlns:a="http://schemas.openxmlformats.org/drawingml/2006/main"/>
      </p:grpSpPr>
      <p:sp>
        <p:nvSpPr>
          <p:cNvPr id="17" name="page-4">
            <a:extLst xmlns:a="http://schemas.openxmlformats.org/drawingml/2006/main">
              <a:ext uri="{FF2B5EF4-FFF2-40B4-BE49-F238E27FC236}">
                <a16:creationId xmlns:a16="http://schemas.microsoft.com/office/drawing/2014/main" id="{7B1C8123-6BFC-47CC-804D-3B67F5545C03}"/>
              </a:ext>
            </a:extLst>
          </p:cNvPr>
          <p:cNvSpPr>
            <a:spLocks xmlns:a="http://schemas.openxmlformats.org/drawingml/2006/main" noGrp="1"/>
          </p:cNvSpPr>
          <p:nvPr/>
        </p:nvSpPr>
        <p:spPr>
          <a:xfrm xmlns:a="http://schemas.openxmlformats.org/drawingml/2006/main">
            <a:off x="685800" y="62865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ACC1B1"/>
                </a:solidFill>
                <a:latin typeface="DejaVu Sans"/>
                <a:ea typeface="DejaVu Sans"/>
                <a:cs typeface="DejaVu Sans"/>
              </a:defRPr>
            </a:defPPr>
          </a:lstStyle>
          <a:p xmlns:a="http://schemas.openxmlformats.org/drawingml/2006/main">
            <a:pPr algn="l">
              <a:defRPr sz="1275" b="0">
                <a:solidFill>
                  <a:srgbClr val="ACC1B1"/>
                </a:solidFill>
                <a:latin typeface="DejaVu Sans"/>
                <a:ea typeface="DejaVu Sans"/>
                <a:cs typeface="DejaVu Sans"/>
              </a:defRPr>
            </a:pPr>
            <a:r>
              <a:rPr sz="1275" b="0">
                <a:solidFill>
                  <a:srgbClr val="ACC1B1"/>
                </a:solidFill>
                <a:latin typeface="DejaVu Sans"/>
                <a:ea typeface="DejaVu Sans"/>
                <a:cs typeface="DejaVu Sans"/>
              </a:rPr>
              <a:t>04</a:t>
            </a:r>
          </a:p>
        </p:txBody>
      </p:sp>
      <p:sp>
        <p:nvSpPr>
          <p:cNvPr id="2" name="slide-title">
            <a:extLst xmlns:a="http://schemas.openxmlformats.org/drawingml/2006/main">
              <a:ext uri="{FF2B5EF4-FFF2-40B4-BE49-F238E27FC236}">
                <a16:creationId xmlns:a16="http://schemas.microsoft.com/office/drawing/2014/main" id="{D60A85B6-CDAC-41D5-83E9-8BD9F7AB14EC}"/>
              </a:ext>
            </a:extLst>
          </p:cNvPr>
          <p:cNvSpPr>
            <a:spLocks xmlns:a="http://schemas.openxmlformats.org/drawingml/2006/main" noGrp="1"/>
          </p:cNvSpPr>
          <p:nvPr/>
        </p:nvSpPr>
        <p:spPr>
          <a:xfrm xmlns:a="http://schemas.openxmlformats.org/drawingml/2006/main">
            <a:off x="685800" y="5810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300" b="1">
                <a:solidFill>
                  <a:srgbClr val="F5F1E8"/>
                </a:solidFill>
                <a:latin typeface="DejaVu Sans"/>
                <a:ea typeface="DejaVu Sans"/>
                <a:cs typeface="DejaVu Sans"/>
              </a:defRPr>
            </a:defPPr>
          </a:lstStyle>
          <a:p xmlns:a="http://schemas.openxmlformats.org/drawingml/2006/main">
            <a:pPr algn="r" rtl="1">
              <a:defRPr sz="3300" b="1">
                <a:solidFill>
                  <a:srgbClr val="F5F1E8"/>
                </a:solidFill>
                <a:latin typeface="DejaVu Sans"/>
                <a:ea typeface="DejaVu Sans"/>
                <a:cs typeface="DejaVu Sans"/>
              </a:defRPr>
            </a:pPr>
            <a:r>
              <a:rPr sz="3300" b="1" lang="ar-JO">
                <a:solidFill>
                  <a:srgbClr val="F5F1E8"/>
                </a:solidFill>
                <a:latin typeface="DejaVu Sans"/>
                <a:ea typeface="DejaVu Sans"/>
                <a:cs typeface="DejaVu Sans"/>
              </a:rPr>
              <a:t>أين نستخدم الذكاء الاصطناعي؟</a:t>
            </a:r>
          </a:p>
        </p:txBody>
      </p:sp>
      <p:sp>
        <p:nvSpPr>
          <p:cNvPr id="3" name="text-23">
            <a:extLst xmlns:a="http://schemas.openxmlformats.org/drawingml/2006/main">
              <a:ext uri="{FF2B5EF4-FFF2-40B4-BE49-F238E27FC236}">
                <a16:creationId xmlns:a16="http://schemas.microsoft.com/office/drawing/2014/main" id="{31963881-64D8-40B2-9911-577BB9EB5692}"/>
              </a:ext>
            </a:extLst>
          </p:cNvPr>
          <p:cNvSpPr>
            <a:spLocks xmlns:a="http://schemas.openxmlformats.org/drawingml/2006/main" noGrp="1"/>
          </p:cNvSpPr>
          <p:nvPr/>
        </p:nvSpPr>
        <p:spPr>
          <a:xfrm xmlns:a="http://schemas.openxmlformats.org/drawingml/2006/main">
            <a:off x="685800" y="14573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725" b="0">
                <a:solidFill>
                  <a:srgbClr val="EDAD7E"/>
                </a:solidFill>
                <a:latin typeface="DejaVu Sans"/>
                <a:ea typeface="DejaVu Sans"/>
                <a:cs typeface="DejaVu Sans"/>
              </a:defRPr>
            </a:defPPr>
          </a:lstStyle>
          <a:p xmlns:a="http://schemas.openxmlformats.org/drawingml/2006/main">
            <a:pPr algn="r" rtl="1">
              <a:defRPr sz="1725" b="0">
                <a:solidFill>
                  <a:srgbClr val="EDAD7E"/>
                </a:solidFill>
                <a:latin typeface="DejaVu Sans"/>
                <a:ea typeface="DejaVu Sans"/>
                <a:cs typeface="DejaVu Sans"/>
              </a:defRPr>
            </a:pPr>
            <a:r>
              <a:rPr sz="1725" b="0" lang="ar-JO">
                <a:solidFill>
                  <a:srgbClr val="EDAD7E"/>
                </a:solidFill>
                <a:latin typeface="DejaVu Sans"/>
                <a:ea typeface="DejaVu Sans"/>
                <a:cs typeface="DejaVu Sans"/>
              </a:rPr>
              <a:t>تصميم محرك التوصيات</a:t>
            </a:r>
          </a:p>
        </p:txBody>
      </p:sp>
      <p:sp>
        <p:nvSpPr>
          <p:cNvPr id="4" name="text-24">
            <a:extLst xmlns:a="http://schemas.openxmlformats.org/drawingml/2006/main">
              <a:ext uri="{FF2B5EF4-FFF2-40B4-BE49-F238E27FC236}">
                <a16:creationId xmlns:a16="http://schemas.microsoft.com/office/drawing/2014/main" id="{ED059B5F-FC5A-43A5-9AF4-E03F18972BD2}"/>
              </a:ext>
            </a:extLst>
          </p:cNvPr>
          <p:cNvSpPr>
            <a:spLocks xmlns:a="http://schemas.openxmlformats.org/drawingml/2006/main" noGrp="1"/>
          </p:cNvSpPr>
          <p:nvPr/>
        </p:nvSpPr>
        <p:spPr>
          <a:xfrm xmlns:a="http://schemas.openxmlformats.org/drawingml/2006/main">
            <a:off x="6448425" y="2238375"/>
            <a:ext cx="50577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250" b="1">
                <a:solidFill>
                  <a:srgbClr val="F5F1E8"/>
                </a:solidFill>
                <a:latin typeface="DejaVu Sans"/>
                <a:ea typeface="DejaVu Sans"/>
                <a:cs typeface="DejaVu Sans"/>
              </a:defRPr>
            </a:defPPr>
          </a:lstStyle>
          <a:p xmlns:a="http://schemas.openxmlformats.org/drawingml/2006/main">
            <a:pPr algn="r" rtl="1">
              <a:defRPr sz="2250" b="1">
                <a:solidFill>
                  <a:srgbClr val="F5F1E8"/>
                </a:solidFill>
                <a:latin typeface="DejaVu Sans"/>
                <a:ea typeface="DejaVu Sans"/>
                <a:cs typeface="DejaVu Sans"/>
              </a:defRPr>
            </a:pPr>
            <a:r>
              <a:rPr sz="2250" b="1" lang="ar-JO">
                <a:solidFill>
                  <a:srgbClr val="F5F1E8"/>
                </a:solidFill>
                <a:latin typeface="DejaVu Sans"/>
                <a:ea typeface="DejaVu Sans"/>
                <a:cs typeface="DejaVu Sans"/>
              </a:rPr>
              <a:t>فهم اهتمام المستخدم</a:t>
            </a:r>
          </a:p>
        </p:txBody>
      </p:sp>
      <p:sp>
        <p:nvSpPr>
          <p:cNvPr id="5" name="text-25">
            <a:extLst xmlns:a="http://schemas.openxmlformats.org/drawingml/2006/main">
              <a:ext uri="{FF2B5EF4-FFF2-40B4-BE49-F238E27FC236}">
                <a16:creationId xmlns:a16="http://schemas.microsoft.com/office/drawing/2014/main" id="{381B3029-4167-41A2-A171-2E6521005B50}"/>
              </a:ext>
            </a:extLst>
          </p:cNvPr>
          <p:cNvSpPr>
            <a:spLocks xmlns:a="http://schemas.openxmlformats.org/drawingml/2006/main" noGrp="1"/>
          </p:cNvSpPr>
          <p:nvPr/>
        </p:nvSpPr>
        <p:spPr>
          <a:xfrm xmlns:a="http://schemas.openxmlformats.org/drawingml/2006/main">
            <a:off x="5943600" y="2686050"/>
            <a:ext cx="5562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C7D8CC"/>
                </a:solidFill>
                <a:latin typeface="DejaVu Sans"/>
                <a:ea typeface="DejaVu Sans"/>
                <a:cs typeface="DejaVu Sans"/>
              </a:defRPr>
            </a:defPPr>
          </a:lstStyle>
          <a:p xmlns:a="http://schemas.openxmlformats.org/drawingml/2006/main">
            <a:pPr algn="r" rtl="1">
              <a:defRPr sz="1800" b="0">
                <a:solidFill>
                  <a:srgbClr val="C7D8CC"/>
                </a:solidFill>
                <a:latin typeface="DejaVu Sans"/>
                <a:ea typeface="DejaVu Sans"/>
                <a:cs typeface="DejaVu Sans"/>
              </a:defRPr>
            </a:pPr>
            <a:r>
              <a:rPr sz="1800" b="0" lang="ar-JO">
                <a:solidFill>
                  <a:srgbClr val="C7D8CC"/>
                </a:solidFill>
                <a:latin typeface="DejaVu Sans"/>
                <a:ea typeface="DejaVu Sans"/>
                <a:cs typeface="DejaVu Sans"/>
              </a:rPr>
              <a:t>تحويل الطلب إلى تفضيلات واضحة</a:t>
            </a:r>
          </a:p>
        </p:txBody>
      </p:sp>
      <p:sp>
        <p:nvSpPr>
          <p:cNvPr id="6" name="text-26">
            <a:extLst xmlns:a="http://schemas.openxmlformats.org/drawingml/2006/main">
              <a:ext uri="{FF2B5EF4-FFF2-40B4-BE49-F238E27FC236}">
                <a16:creationId xmlns:a16="http://schemas.microsoft.com/office/drawing/2014/main" id="{430B5130-C026-46B6-81CE-365A9E8EBC74}"/>
              </a:ext>
            </a:extLst>
          </p:cNvPr>
          <p:cNvSpPr>
            <a:spLocks xmlns:a="http://schemas.openxmlformats.org/drawingml/2006/main" noGrp="1"/>
          </p:cNvSpPr>
          <p:nvPr/>
        </p:nvSpPr>
        <p:spPr>
          <a:xfrm xmlns:a="http://schemas.openxmlformats.org/drawingml/2006/main">
            <a:off x="6448425" y="3248025"/>
            <a:ext cx="50577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250" b="1">
                <a:solidFill>
                  <a:srgbClr val="F5F1E8"/>
                </a:solidFill>
                <a:latin typeface="DejaVu Sans"/>
                <a:ea typeface="DejaVu Sans"/>
                <a:cs typeface="DejaVu Sans"/>
              </a:defRPr>
            </a:defPPr>
          </a:lstStyle>
          <a:p xmlns:a="http://schemas.openxmlformats.org/drawingml/2006/main">
            <a:pPr algn="r" rtl="1">
              <a:defRPr sz="2250" b="1">
                <a:solidFill>
                  <a:srgbClr val="F5F1E8"/>
                </a:solidFill>
                <a:latin typeface="DejaVu Sans"/>
                <a:ea typeface="DejaVu Sans"/>
                <a:cs typeface="DejaVu Sans"/>
              </a:defRPr>
            </a:pPr>
            <a:r>
              <a:rPr sz="2250" b="1" lang="ar-JO">
                <a:solidFill>
                  <a:srgbClr val="F5F1E8"/>
                </a:solidFill>
                <a:latin typeface="DejaVu Sans"/>
                <a:ea typeface="DejaVu Sans"/>
                <a:cs typeface="DejaVu Sans"/>
              </a:rPr>
              <a:t>ترتيب الأنشطة المناسبة</a:t>
            </a:r>
          </a:p>
        </p:txBody>
      </p:sp>
      <p:sp>
        <p:nvSpPr>
          <p:cNvPr id="7" name="text-27">
            <a:extLst xmlns:a="http://schemas.openxmlformats.org/drawingml/2006/main">
              <a:ext uri="{FF2B5EF4-FFF2-40B4-BE49-F238E27FC236}">
                <a16:creationId xmlns:a16="http://schemas.microsoft.com/office/drawing/2014/main" id="{6E615762-7928-4F26-A966-1BD73E4520C1}"/>
              </a:ext>
            </a:extLst>
          </p:cNvPr>
          <p:cNvSpPr>
            <a:spLocks xmlns:a="http://schemas.openxmlformats.org/drawingml/2006/main" noGrp="1"/>
          </p:cNvSpPr>
          <p:nvPr/>
        </p:nvSpPr>
        <p:spPr>
          <a:xfrm xmlns:a="http://schemas.openxmlformats.org/drawingml/2006/main">
            <a:off x="5943600" y="3695700"/>
            <a:ext cx="5562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C7D8CC"/>
                </a:solidFill>
                <a:latin typeface="DejaVu Sans"/>
                <a:ea typeface="DejaVu Sans"/>
                <a:cs typeface="DejaVu Sans"/>
              </a:defRPr>
            </a:defPPr>
          </a:lstStyle>
          <a:p xmlns:a="http://schemas.openxmlformats.org/drawingml/2006/main">
            <a:pPr algn="r" rtl="1">
              <a:defRPr sz="1800" b="0">
                <a:solidFill>
                  <a:srgbClr val="C7D8CC"/>
                </a:solidFill>
                <a:latin typeface="DejaVu Sans"/>
                <a:ea typeface="DejaVu Sans"/>
                <a:cs typeface="DejaVu Sans"/>
              </a:defRPr>
            </a:pPr>
            <a:r>
              <a:rPr sz="1800" b="0" lang="ar-JO">
                <a:solidFill>
                  <a:srgbClr val="C7D8CC"/>
                </a:solidFill>
                <a:latin typeface="DejaVu Sans"/>
                <a:ea typeface="DejaVu Sans"/>
                <a:cs typeface="DejaVu Sans"/>
              </a:rPr>
              <a:t>فلترة الشروط ثم مطابقة معنى الطلب</a:t>
            </a:r>
          </a:p>
        </p:txBody>
      </p:sp>
      <p:sp>
        <p:nvSpPr>
          <p:cNvPr id="8" name="text-28">
            <a:extLst xmlns:a="http://schemas.openxmlformats.org/drawingml/2006/main">
              <a:ext uri="{FF2B5EF4-FFF2-40B4-BE49-F238E27FC236}">
                <a16:creationId xmlns:a16="http://schemas.microsoft.com/office/drawing/2014/main" id="{364D4733-6867-41AB-82C8-93D9CA49EB26}"/>
              </a:ext>
            </a:extLst>
          </p:cNvPr>
          <p:cNvSpPr>
            <a:spLocks xmlns:a="http://schemas.openxmlformats.org/drawingml/2006/main" noGrp="1"/>
          </p:cNvSpPr>
          <p:nvPr/>
        </p:nvSpPr>
        <p:spPr>
          <a:xfrm xmlns:a="http://schemas.openxmlformats.org/drawingml/2006/main">
            <a:off x="6448425" y="4257675"/>
            <a:ext cx="50577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250" b="1">
                <a:solidFill>
                  <a:srgbClr val="F5F1E8"/>
                </a:solidFill>
                <a:latin typeface="DejaVu Sans"/>
                <a:ea typeface="DejaVu Sans"/>
                <a:cs typeface="DejaVu Sans"/>
              </a:defRPr>
            </a:defPPr>
          </a:lstStyle>
          <a:p xmlns:a="http://schemas.openxmlformats.org/drawingml/2006/main">
            <a:pPr algn="r" rtl="1">
              <a:defRPr sz="2250" b="1">
                <a:solidFill>
                  <a:srgbClr val="F5F1E8"/>
                </a:solidFill>
                <a:latin typeface="DejaVu Sans"/>
                <a:ea typeface="DejaVu Sans"/>
                <a:cs typeface="DejaVu Sans"/>
              </a:defRPr>
            </a:pPr>
            <a:r>
              <a:rPr sz="2250" b="1" lang="ar-JO">
                <a:solidFill>
                  <a:srgbClr val="F5F1E8"/>
                </a:solidFill>
                <a:latin typeface="DejaVu Sans"/>
                <a:ea typeface="DejaVu Sans"/>
                <a:cs typeface="DejaVu Sans"/>
              </a:rPr>
              <a:t>تفسير سبب الترشيح</a:t>
            </a:r>
          </a:p>
        </p:txBody>
      </p:sp>
      <p:sp>
        <p:nvSpPr>
          <p:cNvPr id="9" name="text-29">
            <a:extLst xmlns:a="http://schemas.openxmlformats.org/drawingml/2006/main">
              <a:ext uri="{FF2B5EF4-FFF2-40B4-BE49-F238E27FC236}">
                <a16:creationId xmlns:a16="http://schemas.microsoft.com/office/drawing/2014/main" id="{8D5B24D9-7ADC-46C7-972F-29CCE43C1A8C}"/>
              </a:ext>
            </a:extLst>
          </p:cNvPr>
          <p:cNvSpPr>
            <a:spLocks xmlns:a="http://schemas.openxmlformats.org/drawingml/2006/main" noGrp="1"/>
          </p:cNvSpPr>
          <p:nvPr/>
        </p:nvSpPr>
        <p:spPr>
          <a:xfrm xmlns:a="http://schemas.openxmlformats.org/drawingml/2006/main">
            <a:off x="5943600" y="4705350"/>
            <a:ext cx="5562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C7D8CC"/>
                </a:solidFill>
                <a:latin typeface="DejaVu Sans"/>
                <a:ea typeface="DejaVu Sans"/>
                <a:cs typeface="DejaVu Sans"/>
              </a:defRPr>
            </a:defPPr>
          </a:lstStyle>
          <a:p xmlns:a="http://schemas.openxmlformats.org/drawingml/2006/main">
            <a:pPr algn="r" rtl="1">
              <a:defRPr sz="1800" b="0">
                <a:solidFill>
                  <a:srgbClr val="C7D8CC"/>
                </a:solidFill>
                <a:latin typeface="DejaVu Sans"/>
                <a:ea typeface="DejaVu Sans"/>
                <a:cs typeface="DejaVu Sans"/>
              </a:defRPr>
            </a:pPr>
            <a:r>
              <a:rPr sz="1800" b="0" lang="ar-JO">
                <a:solidFill>
                  <a:srgbClr val="C7D8CC"/>
                </a:solidFill>
                <a:latin typeface="DejaVu Sans"/>
                <a:ea typeface="DejaVu Sans"/>
                <a:cs typeface="DejaVu Sans"/>
              </a:rPr>
              <a:t>اقتراحات مرتبطة ببيانات الأنشطة</a:t>
            </a:r>
          </a:p>
        </p:txBody>
      </p:sp>
      <p:sp>
        <p:nvSpPr>
          <p:cNvPr id="10" name="text-30">
            <a:extLst xmlns:a="http://schemas.openxmlformats.org/drawingml/2006/main">
              <a:ext uri="{FF2B5EF4-FFF2-40B4-BE49-F238E27FC236}">
                <a16:creationId xmlns:a16="http://schemas.microsoft.com/office/drawing/2014/main" id="{ABA7AB48-C08B-472B-8604-E25E0E3C452B}"/>
              </a:ext>
            </a:extLst>
          </p:cNvPr>
          <p:cNvSpPr>
            <a:spLocks xmlns:a="http://schemas.openxmlformats.org/drawingml/2006/main" noGrp="1"/>
          </p:cNvSpPr>
          <p:nvPr/>
        </p:nvSpPr>
        <p:spPr>
          <a:xfrm xmlns:a="http://schemas.openxmlformats.org/drawingml/2006/main">
            <a:off x="685800" y="2190750"/>
            <a:ext cx="44672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725" b="0">
                <a:solidFill>
                  <a:srgbClr val="EDAD7E"/>
                </a:solidFill>
                <a:latin typeface="DejaVu Sans"/>
                <a:ea typeface="DejaVu Sans"/>
                <a:cs typeface="DejaVu Sans"/>
              </a:defRPr>
            </a:defPPr>
          </a:lstStyle>
          <a:p xmlns:a="http://schemas.openxmlformats.org/drawingml/2006/main">
            <a:pPr algn="r" rtl="1">
              <a:defRPr sz="1725" b="0">
                <a:solidFill>
                  <a:srgbClr val="EDAD7E"/>
                </a:solidFill>
                <a:latin typeface="DejaVu Sans"/>
                <a:ea typeface="DejaVu Sans"/>
                <a:cs typeface="DejaVu Sans"/>
              </a:defRPr>
            </a:pPr>
            <a:r>
              <a:rPr sz="1725" b="0" lang="ar-JO">
                <a:solidFill>
                  <a:srgbClr val="EDAD7E"/>
                </a:solidFill>
                <a:latin typeface="DejaVu Sans"/>
                <a:ea typeface="DejaVu Sans"/>
                <a:cs typeface="DejaVu Sans"/>
              </a:rPr>
              <a:t>مثال توضيحي</a:t>
            </a:r>
          </a:p>
        </p:txBody>
      </p:sp>
      <p:sp>
        <p:nvSpPr>
          <p:cNvPr id="11" name="text-31">
            <a:extLst xmlns:a="http://schemas.openxmlformats.org/drawingml/2006/main">
              <a:ext uri="{FF2B5EF4-FFF2-40B4-BE49-F238E27FC236}">
                <a16:creationId xmlns:a16="http://schemas.microsoft.com/office/drawing/2014/main" id="{0AA7DE2D-734B-4A06-A45B-F740CED77EC5}"/>
              </a:ext>
            </a:extLst>
          </p:cNvPr>
          <p:cNvSpPr>
            <a:spLocks xmlns:a="http://schemas.openxmlformats.org/drawingml/2006/main" noGrp="1"/>
          </p:cNvSpPr>
          <p:nvPr/>
        </p:nvSpPr>
        <p:spPr>
          <a:xfrm xmlns:a="http://schemas.openxmlformats.org/drawingml/2006/main">
            <a:off x="685800" y="2771775"/>
            <a:ext cx="4467225"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225" b="1">
                <a:solidFill>
                  <a:srgbClr val="F5F1E8"/>
                </a:solidFill>
                <a:latin typeface="DejaVu Sans"/>
                <a:ea typeface="DejaVu Sans"/>
                <a:cs typeface="DejaVu Sans"/>
              </a:defRPr>
            </a:defPPr>
          </a:lstStyle>
          <a:p xmlns:a="http://schemas.openxmlformats.org/drawingml/2006/main">
            <a:pPr algn="r" rtl="1">
              <a:defRPr sz="3225" b="1">
                <a:solidFill>
                  <a:srgbClr val="F5F1E8"/>
                </a:solidFill>
                <a:latin typeface="DejaVu Sans"/>
                <a:ea typeface="DejaVu Sans"/>
                <a:cs typeface="DejaVu Sans"/>
              </a:defRPr>
            </a:pPr>
            <a:r>
              <a:rPr sz="3225" b="1" lang="ar-JO">
                <a:solidFill>
                  <a:srgbClr val="F5F1E8"/>
                </a:solidFill>
                <a:latin typeface="DejaVu Sans"/>
                <a:ea typeface="DejaVu Sans"/>
                <a:cs typeface="DejaVu Sans"/>
              </a:rPr>
              <a:t>«بدي طشّة هادية</a:t>
            </a:r>
          </a:p>
          <a:p xmlns:a="http://schemas.openxmlformats.org/drawingml/2006/main">
            <a:pPr algn="r" rtl="1">
              <a:defRPr sz="3225" b="1">
                <a:solidFill>
                  <a:srgbClr val="F5F1E8"/>
                </a:solidFill>
                <a:latin typeface="DejaVu Sans"/>
                <a:ea typeface="DejaVu Sans"/>
                <a:cs typeface="DejaVu Sans"/>
              </a:defRPr>
            </a:pPr>
            <a:r>
              <a:rPr sz="3225" b="1" lang="ar-JO">
                <a:solidFill>
                  <a:srgbClr val="F5F1E8"/>
                </a:solidFill>
                <a:latin typeface="DejaVu Sans"/>
                <a:ea typeface="DejaVu Sans"/>
                <a:cs typeface="DejaVu Sans"/>
              </a:rPr>
              <a:t>قريبة وبحدود</a:t>
            </a:r>
          </a:p>
          <a:p xmlns:a="http://schemas.openxmlformats.org/drawingml/2006/main">
            <a:pPr algn="r" rtl="1">
              <a:defRPr sz="3225" b="1">
                <a:solidFill>
                  <a:srgbClr val="F5F1E8"/>
                </a:solidFill>
                <a:latin typeface="DejaVu Sans"/>
                <a:ea typeface="DejaVu Sans"/>
                <a:cs typeface="DejaVu Sans"/>
              </a:defRPr>
            </a:pPr>
            <a:r>
              <a:rPr sz="3225" b="1" lang="ar-JO">
                <a:solidFill>
                  <a:srgbClr val="F5F1E8"/>
                </a:solidFill>
                <a:latin typeface="DejaVu Sans"/>
                <a:ea typeface="DejaVu Sans"/>
                <a:cs typeface="DejaVu Sans"/>
              </a:rPr>
              <a:t>٢٠ دينار»</a:t>
            </a:r>
          </a:p>
        </p:txBody>
      </p:sp>
      <p:sp>
        <p:nvSpPr>
          <p:cNvPr id="12" name="divider-32">
            <a:extLst xmlns:a="http://schemas.openxmlformats.org/drawingml/2006/main">
              <a:ext uri="{FF2B5EF4-FFF2-40B4-BE49-F238E27FC236}">
                <a16:creationId xmlns:a16="http://schemas.microsoft.com/office/drawing/2014/main" id="{1590E203-BA0D-4372-87F9-6AED9C6F68B6}"/>
              </a:ext>
            </a:extLst>
          </p:cNvPr>
          <p:cNvSpPr>
            <a:spLocks xmlns:a="http://schemas.openxmlformats.org/drawingml/2006/main" noGrp="1"/>
          </p:cNvSpPr>
          <p:nvPr/>
        </p:nvSpPr>
        <p:spPr>
          <a:xfrm xmlns:a="http://schemas.openxmlformats.org/drawingml/2006/main">
            <a:off x="685800" y="5334000"/>
            <a:ext cx="10820400" cy="0"/>
          </a:xfrm>
          <a:prstGeom xmlns:a="http://schemas.openxmlformats.org/drawingml/2006/main" prst="line">
            <a:avLst/>
          </a:prstGeom>
          <a:noFill xmlns:a="http://schemas.openxmlformats.org/drawingml/2006/main"/>
          <a:ln xmlns:a="http://schemas.openxmlformats.org/drawingml/2006/main" w="11430">
            <a:solidFill>
              <a:srgbClr val="547166"/>
            </a:solidFill>
          </a:ln>
        </p:spPr>
      </p:sp>
      <p:sp>
        <p:nvSpPr>
          <p:cNvPr id="13" name="text-33">
            <a:extLst xmlns:a="http://schemas.openxmlformats.org/drawingml/2006/main">
              <a:ext uri="{FF2B5EF4-FFF2-40B4-BE49-F238E27FC236}">
                <a16:creationId xmlns:a16="http://schemas.microsoft.com/office/drawing/2014/main" id="{FF0F6D9D-C0EC-42F2-9E63-2104902D43F0}"/>
              </a:ext>
            </a:extLst>
          </p:cNvPr>
          <p:cNvSpPr>
            <a:spLocks xmlns:a="http://schemas.openxmlformats.org/drawingml/2006/main" noGrp="1"/>
          </p:cNvSpPr>
          <p:nvPr/>
        </p:nvSpPr>
        <p:spPr>
          <a:xfrm xmlns:a="http://schemas.openxmlformats.org/drawingml/2006/main">
            <a:off x="6524625" y="5524500"/>
            <a:ext cx="4962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75" b="0">
                <a:solidFill>
                  <a:srgbClr val="EDAD7E"/>
                </a:solidFill>
                <a:latin typeface="DejaVu Sans"/>
                <a:ea typeface="DejaVu Sans"/>
                <a:cs typeface="DejaVu Sans"/>
              </a:defRPr>
            </a:defPPr>
          </a:lstStyle>
          <a:p xmlns:a="http://schemas.openxmlformats.org/drawingml/2006/main">
            <a:pPr algn="r" rtl="1">
              <a:defRPr sz="1575" b="0">
                <a:solidFill>
                  <a:srgbClr val="EDAD7E"/>
                </a:solidFill>
                <a:latin typeface="DejaVu Sans"/>
                <a:ea typeface="DejaVu Sans"/>
                <a:cs typeface="DejaVu Sans"/>
              </a:defRPr>
            </a:pPr>
            <a:r>
              <a:rPr sz="1575" b="0" lang="ar-JO">
                <a:solidFill>
                  <a:srgbClr val="EDAD7E"/>
                </a:solidFill>
                <a:latin typeface="DejaVu Sans"/>
                <a:ea typeface="DejaVu Sans"/>
                <a:cs typeface="DejaVu Sans"/>
              </a:rPr>
              <a:t>الواجهة</a:t>
            </a:r>
          </a:p>
        </p:txBody>
      </p:sp>
      <p:sp>
        <p:nvSpPr>
          <p:cNvPr id="14" name="text-34">
            <a:extLst xmlns:a="http://schemas.openxmlformats.org/drawingml/2006/main">
              <a:ext uri="{FF2B5EF4-FFF2-40B4-BE49-F238E27FC236}">
                <a16:creationId xmlns:a16="http://schemas.microsoft.com/office/drawing/2014/main" id="{88197C61-BB9D-42A3-BE12-F17C0166882B}"/>
              </a:ext>
            </a:extLst>
          </p:cNvPr>
          <p:cNvSpPr>
            <a:spLocks xmlns:a="http://schemas.openxmlformats.org/drawingml/2006/main" noGrp="1"/>
          </p:cNvSpPr>
          <p:nvPr/>
        </p:nvSpPr>
        <p:spPr>
          <a:xfrm xmlns:a="http://schemas.openxmlformats.org/drawingml/2006/main">
            <a:off x="6162675" y="5915025"/>
            <a:ext cx="53244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725" b="0">
                <a:solidFill>
                  <a:srgbClr val="F5F1E8"/>
                </a:solidFill>
                <a:latin typeface="DejaVu Sans"/>
                <a:ea typeface="DejaVu Sans"/>
                <a:cs typeface="DejaVu Sans"/>
              </a:defRPr>
            </a:defPPr>
          </a:lstStyle>
          <a:p xmlns:a="http://schemas.openxmlformats.org/drawingml/2006/main">
            <a:pPr algn="r">
              <a:defRPr sz="1725" b="0">
                <a:solidFill>
                  <a:srgbClr val="F5F1E8"/>
                </a:solidFill>
                <a:latin typeface="DejaVu Sans"/>
                <a:ea typeface="DejaVu Sans"/>
                <a:cs typeface="DejaVu Sans"/>
              </a:defRPr>
            </a:pPr>
            <a:r>
              <a:rPr sz="1725" b="0">
                <a:solidFill>
                  <a:srgbClr val="F5F1E8"/>
                </a:solidFill>
                <a:latin typeface="DejaVu Sans"/>
                <a:ea typeface="DejaVu Sans"/>
                <a:cs typeface="DejaVu Sans"/>
              </a:rPr>
              <a:t>Next.js + TypeScript + Tailwind</a:t>
            </a:r>
          </a:p>
        </p:txBody>
      </p:sp>
      <p:sp>
        <p:nvSpPr>
          <p:cNvPr id="15" name="text-35">
            <a:extLst xmlns:a="http://schemas.openxmlformats.org/drawingml/2006/main">
              <a:ext uri="{FF2B5EF4-FFF2-40B4-BE49-F238E27FC236}">
                <a16:creationId xmlns:a16="http://schemas.microsoft.com/office/drawing/2014/main" id="{E2609092-8ECA-4367-B7BF-8D54E4B308F4}"/>
              </a:ext>
            </a:extLst>
          </p:cNvPr>
          <p:cNvSpPr>
            <a:spLocks xmlns:a="http://schemas.openxmlformats.org/drawingml/2006/main" noGrp="1"/>
          </p:cNvSpPr>
          <p:nvPr/>
        </p:nvSpPr>
        <p:spPr>
          <a:xfrm xmlns:a="http://schemas.openxmlformats.org/drawingml/2006/main">
            <a:off x="685800" y="5524500"/>
            <a:ext cx="4962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75" b="0">
                <a:solidFill>
                  <a:srgbClr val="EDAD7E"/>
                </a:solidFill>
                <a:latin typeface="DejaVu Sans"/>
                <a:ea typeface="DejaVu Sans"/>
                <a:cs typeface="DejaVu Sans"/>
              </a:defRPr>
            </a:defPPr>
          </a:lstStyle>
          <a:p xmlns:a="http://schemas.openxmlformats.org/drawingml/2006/main">
            <a:pPr algn="r" rtl="1">
              <a:defRPr sz="1575" b="0">
                <a:solidFill>
                  <a:srgbClr val="EDAD7E"/>
                </a:solidFill>
                <a:latin typeface="DejaVu Sans"/>
                <a:ea typeface="DejaVu Sans"/>
                <a:cs typeface="DejaVu Sans"/>
              </a:defRPr>
            </a:pPr>
            <a:r>
              <a:rPr sz="1575" b="0" lang="ar-JO">
                <a:solidFill>
                  <a:srgbClr val="EDAD7E"/>
                </a:solidFill>
                <a:latin typeface="DejaVu Sans"/>
                <a:ea typeface="DejaVu Sans"/>
                <a:cs typeface="DejaVu Sans"/>
              </a:rPr>
              <a:t>خطة الربط</a:t>
            </a:r>
          </a:p>
        </p:txBody>
      </p:sp>
      <p:sp>
        <p:nvSpPr>
          <p:cNvPr id="16" name="text-36">
            <a:extLst xmlns:a="http://schemas.openxmlformats.org/drawingml/2006/main">
              <a:ext uri="{FF2B5EF4-FFF2-40B4-BE49-F238E27FC236}">
                <a16:creationId xmlns:a16="http://schemas.microsoft.com/office/drawing/2014/main" id="{7B6BB4B1-97DF-42D8-9D52-46463DB46A6F}"/>
              </a:ext>
            </a:extLst>
          </p:cNvPr>
          <p:cNvSpPr>
            <a:spLocks xmlns:a="http://schemas.openxmlformats.org/drawingml/2006/main" noGrp="1"/>
          </p:cNvSpPr>
          <p:nvPr/>
        </p:nvSpPr>
        <p:spPr>
          <a:xfrm xmlns:a="http://schemas.openxmlformats.org/drawingml/2006/main">
            <a:off x="685800" y="5915025"/>
            <a:ext cx="49625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725" b="0">
                <a:solidFill>
                  <a:srgbClr val="F5F1E8"/>
                </a:solidFill>
                <a:latin typeface="DejaVu Sans"/>
                <a:ea typeface="DejaVu Sans"/>
                <a:cs typeface="DejaVu Sans"/>
              </a:defRPr>
            </a:defPPr>
          </a:lstStyle>
          <a:p xmlns:a="http://schemas.openxmlformats.org/drawingml/2006/main">
            <a:pPr algn="r">
              <a:defRPr sz="1725" b="0">
                <a:solidFill>
                  <a:srgbClr val="F5F1E8"/>
                </a:solidFill>
                <a:latin typeface="DejaVu Sans"/>
                <a:ea typeface="DejaVu Sans"/>
                <a:cs typeface="DejaVu Sans"/>
              </a:defRPr>
            </a:pPr>
            <a:r>
              <a:rPr sz="1725" b="0">
                <a:solidFill>
                  <a:srgbClr val="F5F1E8"/>
                </a:solidFill>
                <a:latin typeface="DejaVu Sans"/>
                <a:ea typeface="DejaVu Sans"/>
                <a:cs typeface="DejaVu Sans"/>
              </a:rPr>
              <a:t>Supabase + OpenAI + Zod</a:t>
            </a:r>
          </a:p>
        </p:txBody>
      </p:sp>
    </p:spTree>
    <p:extLst>
      <p:ext uri="{BB962C8B-B14F-4D97-AF65-F5344CB8AC3E}">
        <p14:creationId xmlns:p14="http://schemas.microsoft.com/office/powerpoint/2010/main" val="1796887008"/>
      </p:ext>
    </p:extLst>
  </p:cSld>
</p:sld>
</file>

<file path=ppt/slides/slide5.xml><?xml version="1.0" encoding="utf-8"?>
<p:sld xmlns:p="http://schemas.openxmlformats.org/presentationml/2006/main">
  <p:cSld>
    <p:bg>
      <p:bgPr>
        <a:solidFill xmlns:a="http://schemas.openxmlformats.org/drawingml/2006/main">
          <a:srgbClr val="173F35"/>
        </a:solidFill>
      </p:bgPr>
    </p:bg>
    <p:spTree>
      <p:nvGrpSpPr>
        <p:cNvPr id="1" name=""/>
        <p:cNvGrpSpPr/>
        <p:nvPr/>
      </p:nvGrpSpPr>
      <p:grpSpPr>
        <a:xfrm xmlns:a="http://schemas.openxmlformats.org/drawingml/2006/main"/>
      </p:grpSpPr>
      <p:sp>
        <p:nvSpPr>
          <p:cNvPr id="10" name="page-5">
            <a:extLst xmlns:a="http://schemas.openxmlformats.org/drawingml/2006/main">
              <a:ext uri="{FF2B5EF4-FFF2-40B4-BE49-F238E27FC236}">
                <a16:creationId xmlns:a16="http://schemas.microsoft.com/office/drawing/2014/main" id="{9128CFBA-1D2A-4FE4-A4A5-8D3FB7402DFF}"/>
              </a:ext>
            </a:extLst>
          </p:cNvPr>
          <p:cNvSpPr>
            <a:spLocks xmlns:a="http://schemas.openxmlformats.org/drawingml/2006/main" noGrp="1"/>
          </p:cNvSpPr>
          <p:nvPr/>
        </p:nvSpPr>
        <p:spPr>
          <a:xfrm xmlns:a="http://schemas.openxmlformats.org/drawingml/2006/main">
            <a:off x="685800" y="62865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ACC1B1"/>
                </a:solidFill>
                <a:latin typeface="DejaVu Sans"/>
                <a:ea typeface="DejaVu Sans"/>
                <a:cs typeface="DejaVu Sans"/>
              </a:defRPr>
            </a:defPPr>
          </a:lstStyle>
          <a:p xmlns:a="http://schemas.openxmlformats.org/drawingml/2006/main">
            <a:pPr algn="l">
              <a:defRPr sz="1275" b="0">
                <a:solidFill>
                  <a:srgbClr val="ACC1B1"/>
                </a:solidFill>
                <a:latin typeface="DejaVu Sans"/>
                <a:ea typeface="DejaVu Sans"/>
                <a:cs typeface="DejaVu Sans"/>
              </a:defRPr>
            </a:pPr>
            <a:r>
              <a:rPr sz="1275" b="0">
                <a:solidFill>
                  <a:srgbClr val="ACC1B1"/>
                </a:solidFill>
                <a:latin typeface="DejaVu Sans"/>
                <a:ea typeface="DejaVu Sans"/>
                <a:cs typeface="DejaVu Sans"/>
              </a:rPr>
              <a:t>05</a:t>
            </a:r>
          </a:p>
        </p:txBody>
      </p:sp>
      <p:sp>
        <p:nvSpPr>
          <p:cNvPr id="2" name="slide-title">
            <a:extLst xmlns:a="http://schemas.openxmlformats.org/drawingml/2006/main">
              <a:ext uri="{FF2B5EF4-FFF2-40B4-BE49-F238E27FC236}">
                <a16:creationId xmlns:a16="http://schemas.microsoft.com/office/drawing/2014/main" id="{B7C7385D-4629-4025-BDB6-D2BB302F9B2A}"/>
              </a:ext>
            </a:extLst>
          </p:cNvPr>
          <p:cNvSpPr>
            <a:spLocks xmlns:a="http://schemas.openxmlformats.org/drawingml/2006/main" noGrp="1"/>
          </p:cNvSpPr>
          <p:nvPr/>
        </p:nvSpPr>
        <p:spPr>
          <a:xfrm xmlns:a="http://schemas.openxmlformats.org/drawingml/2006/main">
            <a:off x="685800" y="5810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300" b="1">
                <a:solidFill>
                  <a:srgbClr val="F5F1E8"/>
                </a:solidFill>
                <a:latin typeface="DejaVu Sans"/>
                <a:ea typeface="DejaVu Sans"/>
                <a:cs typeface="DejaVu Sans"/>
              </a:defRPr>
            </a:defPPr>
          </a:lstStyle>
          <a:p xmlns:a="http://schemas.openxmlformats.org/drawingml/2006/main">
            <a:pPr algn="r" rtl="1">
              <a:defRPr sz="3300" b="1">
                <a:solidFill>
                  <a:srgbClr val="F5F1E8"/>
                </a:solidFill>
                <a:latin typeface="DejaVu Sans"/>
                <a:ea typeface="DejaVu Sans"/>
                <a:cs typeface="DejaVu Sans"/>
              </a:defRPr>
            </a:pPr>
            <a:r>
              <a:rPr sz="3300" b="1" lang="ar-JO">
                <a:solidFill>
                  <a:srgbClr val="F5F1E8"/>
                </a:solidFill>
                <a:latin typeface="DejaVu Sans"/>
                <a:ea typeface="DejaVu Sans"/>
                <a:cs typeface="DejaVu Sans"/>
              </a:rPr>
              <a:t>الديمو: طلب واحد وتجربة محلية مناسبة</a:t>
            </a:r>
          </a:p>
        </p:txBody>
      </p:sp>
      <p:sp>
        <p:nvSpPr>
          <p:cNvPr id="3" name="text-37">
            <a:extLst xmlns:a="http://schemas.openxmlformats.org/drawingml/2006/main">
              <a:ext uri="{FF2B5EF4-FFF2-40B4-BE49-F238E27FC236}">
                <a16:creationId xmlns:a16="http://schemas.microsoft.com/office/drawing/2014/main" id="{4B83024D-7F3F-4D3A-9FDE-62FF68E472D0}"/>
              </a:ext>
            </a:extLst>
          </p:cNvPr>
          <p:cNvSpPr>
            <a:spLocks xmlns:a="http://schemas.openxmlformats.org/drawingml/2006/main" noGrp="1"/>
          </p:cNvSpPr>
          <p:nvPr/>
        </p:nvSpPr>
        <p:spPr>
          <a:xfrm xmlns:a="http://schemas.openxmlformats.org/drawingml/2006/main">
            <a:off x="685800" y="15430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EDAD7E"/>
                </a:solidFill>
                <a:latin typeface="DejaVu Sans"/>
                <a:ea typeface="DejaVu Sans"/>
                <a:cs typeface="DejaVu Sans"/>
              </a:defRPr>
            </a:defPPr>
          </a:lstStyle>
          <a:p xmlns:a="http://schemas.openxmlformats.org/drawingml/2006/main">
            <a:pPr algn="r" rtl="1">
              <a:defRPr sz="1800" b="0">
                <a:solidFill>
                  <a:srgbClr val="EDAD7E"/>
                </a:solidFill>
                <a:latin typeface="DejaVu Sans"/>
                <a:ea typeface="DejaVu Sans"/>
                <a:cs typeface="DejaVu Sans"/>
              </a:defRPr>
            </a:pPr>
            <a:r>
              <a:rPr sz="1800" b="0" lang="ar-JO">
                <a:solidFill>
                  <a:srgbClr val="EDAD7E"/>
                </a:solidFill>
                <a:latin typeface="DejaVu Sans"/>
                <a:ea typeface="DejaVu Sans"/>
                <a:cs typeface="DejaVu Sans"/>
              </a:rPr>
              <a:t>سيناريو ببيانات تجريبية</a:t>
            </a:r>
          </a:p>
        </p:txBody>
      </p:sp>
      <p:sp>
        <p:nvSpPr>
          <p:cNvPr id="4" name="text-38">
            <a:extLst xmlns:a="http://schemas.openxmlformats.org/drawingml/2006/main">
              <a:ext uri="{FF2B5EF4-FFF2-40B4-BE49-F238E27FC236}">
                <a16:creationId xmlns:a16="http://schemas.microsoft.com/office/drawing/2014/main" id="{2723418A-E3D8-4DD0-9493-020DBDC1FBCC}"/>
              </a:ext>
            </a:extLst>
          </p:cNvPr>
          <p:cNvSpPr>
            <a:spLocks xmlns:a="http://schemas.openxmlformats.org/drawingml/2006/main" noGrp="1"/>
          </p:cNvSpPr>
          <p:nvPr/>
        </p:nvSpPr>
        <p:spPr>
          <a:xfrm xmlns:a="http://schemas.openxmlformats.org/drawingml/2006/main">
            <a:off x="5695950" y="2324100"/>
            <a:ext cx="5810250"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225" b="1">
                <a:solidFill>
                  <a:srgbClr val="F5F1E8"/>
                </a:solidFill>
                <a:latin typeface="DejaVu Sans"/>
                <a:ea typeface="DejaVu Sans"/>
                <a:cs typeface="DejaVu Sans"/>
              </a:defRPr>
            </a:defPPr>
          </a:lstStyle>
          <a:p xmlns:a="http://schemas.openxmlformats.org/drawingml/2006/main">
            <a:pPr algn="r" rtl="1">
              <a:defRPr sz="3225" b="1">
                <a:solidFill>
                  <a:srgbClr val="F5F1E8"/>
                </a:solidFill>
                <a:latin typeface="DejaVu Sans"/>
                <a:ea typeface="DejaVu Sans"/>
                <a:cs typeface="DejaVu Sans"/>
              </a:defRPr>
            </a:pPr>
            <a:r>
              <a:rPr sz="3225" b="1" lang="ar-JO">
                <a:solidFill>
                  <a:srgbClr val="F5F1E8"/>
                </a:solidFill>
                <a:latin typeface="DejaVu Sans"/>
                <a:ea typeface="DejaVu Sans"/>
                <a:cs typeface="DejaVu Sans"/>
              </a:rPr>
              <a:t>«بدي طشّة طبيعة</a:t>
            </a:r>
          </a:p>
          <a:p xmlns:a="http://schemas.openxmlformats.org/drawingml/2006/main">
            <a:pPr algn="r" rtl="1">
              <a:defRPr sz="3225" b="1">
                <a:solidFill>
                  <a:srgbClr val="F5F1E8"/>
                </a:solidFill>
                <a:latin typeface="DejaVu Sans"/>
                <a:ea typeface="DejaVu Sans"/>
                <a:cs typeface="DejaVu Sans"/>
              </a:defRPr>
            </a:pPr>
            <a:r>
              <a:rPr sz="3225" b="1" lang="ar-JO">
                <a:solidFill>
                  <a:srgbClr val="F5F1E8"/>
                </a:solidFill>
                <a:latin typeface="DejaVu Sans"/>
                <a:ea typeface="DejaVu Sans"/>
                <a:cs typeface="DejaVu Sans"/>
              </a:rPr>
              <a:t>قريبة من عمّان</a:t>
            </a:r>
          </a:p>
          <a:p xmlns:a="http://schemas.openxmlformats.org/drawingml/2006/main">
            <a:pPr algn="r" rtl="1">
              <a:defRPr sz="3225" b="1">
                <a:solidFill>
                  <a:srgbClr val="F5F1E8"/>
                </a:solidFill>
                <a:latin typeface="DejaVu Sans"/>
                <a:ea typeface="DejaVu Sans"/>
                <a:cs typeface="DejaVu Sans"/>
              </a:defRPr>
            </a:pPr>
            <a:r>
              <a:rPr sz="3225" b="1" lang="ar-JO">
                <a:solidFill>
                  <a:srgbClr val="F5F1E8"/>
                </a:solidFill>
                <a:latin typeface="DejaVu Sans"/>
                <a:ea typeface="DejaVu Sans"/>
                <a:cs typeface="DejaVu Sans"/>
              </a:rPr>
              <a:t>بميزانية ٢٠ دينار»</a:t>
            </a:r>
          </a:p>
        </p:txBody>
      </p:sp>
      <p:sp>
        <p:nvSpPr>
          <p:cNvPr id="5" name="text-39">
            <a:extLst xmlns:a="http://schemas.openxmlformats.org/drawingml/2006/main">
              <a:ext uri="{FF2B5EF4-FFF2-40B4-BE49-F238E27FC236}">
                <a16:creationId xmlns:a16="http://schemas.microsoft.com/office/drawing/2014/main" id="{953D1CFE-7C0F-4382-805D-BB35E6DC2E20}"/>
              </a:ext>
            </a:extLst>
          </p:cNvPr>
          <p:cNvSpPr>
            <a:spLocks xmlns:a="http://schemas.openxmlformats.org/drawingml/2006/main" noGrp="1"/>
          </p:cNvSpPr>
          <p:nvPr/>
        </p:nvSpPr>
        <p:spPr>
          <a:xfrm xmlns:a="http://schemas.openxmlformats.org/drawingml/2006/main">
            <a:off x="685800" y="2143125"/>
            <a:ext cx="40386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5100" b="1">
                <a:solidFill>
                  <a:srgbClr val="EDAD7E"/>
                </a:solidFill>
                <a:latin typeface="DejaVu Sans"/>
                <a:ea typeface="DejaVu Sans"/>
                <a:cs typeface="DejaVu Sans"/>
              </a:defRPr>
            </a:defPPr>
          </a:lstStyle>
          <a:p xmlns:a="http://schemas.openxmlformats.org/drawingml/2006/main">
            <a:pPr algn="r" rtl="1">
              <a:defRPr sz="5100" b="1">
                <a:solidFill>
                  <a:srgbClr val="EDAD7E"/>
                </a:solidFill>
                <a:latin typeface="DejaVu Sans"/>
                <a:ea typeface="DejaVu Sans"/>
                <a:cs typeface="DejaVu Sans"/>
              </a:defRPr>
            </a:pPr>
            <a:r>
              <a:rPr sz="5100" b="1" lang="ar-JO">
                <a:solidFill>
                  <a:srgbClr val="EDAD7E"/>
                </a:solidFill>
                <a:latin typeface="DejaVu Sans"/>
                <a:ea typeface="DejaVu Sans"/>
                <a:cs typeface="DejaVu Sans"/>
              </a:rPr>
              <a:t>دقيقتان</a:t>
            </a:r>
          </a:p>
        </p:txBody>
      </p:sp>
      <p:sp>
        <p:nvSpPr>
          <p:cNvPr id="6" name="text-40">
            <a:extLst xmlns:a="http://schemas.openxmlformats.org/drawingml/2006/main">
              <a:ext uri="{FF2B5EF4-FFF2-40B4-BE49-F238E27FC236}">
                <a16:creationId xmlns:a16="http://schemas.microsoft.com/office/drawing/2014/main" id="{AC68118E-01CD-403C-82A6-C52DCC99AF9B}"/>
              </a:ext>
            </a:extLst>
          </p:cNvPr>
          <p:cNvSpPr>
            <a:spLocks xmlns:a="http://schemas.openxmlformats.org/drawingml/2006/main" noGrp="1"/>
          </p:cNvSpPr>
          <p:nvPr/>
        </p:nvSpPr>
        <p:spPr>
          <a:xfrm xmlns:a="http://schemas.openxmlformats.org/drawingml/2006/main">
            <a:off x="685800" y="3152775"/>
            <a:ext cx="4038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950" b="0">
                <a:solidFill>
                  <a:srgbClr val="F5F1E8"/>
                </a:solidFill>
                <a:latin typeface="DejaVu Sans"/>
                <a:ea typeface="DejaVu Sans"/>
                <a:cs typeface="DejaVu Sans"/>
              </a:defRPr>
            </a:defPPr>
          </a:lstStyle>
          <a:p xmlns:a="http://schemas.openxmlformats.org/drawingml/2006/main">
            <a:pPr algn="r" rtl="1">
              <a:defRPr sz="1950" b="0">
                <a:solidFill>
                  <a:srgbClr val="F5F1E8"/>
                </a:solidFill>
                <a:latin typeface="DejaVu Sans"/>
                <a:ea typeface="DejaVu Sans"/>
                <a:cs typeface="DejaVu Sans"/>
              </a:defRPr>
            </a:pPr>
            <a:r>
              <a:rPr sz="1950" b="0" lang="ar-JO">
                <a:solidFill>
                  <a:srgbClr val="F5F1E8"/>
                </a:solidFill>
                <a:latin typeface="DejaVu Sans"/>
                <a:ea typeface="DejaVu Sans"/>
                <a:cs typeface="DejaVu Sans"/>
              </a:rPr>
              <a:t>على النسخة المباشرة</a:t>
            </a:r>
          </a:p>
        </p:txBody>
      </p:sp>
      <p:sp>
        <p:nvSpPr>
          <p:cNvPr id="7" name="text-41">
            <a:extLst xmlns:a="http://schemas.openxmlformats.org/drawingml/2006/main">
              <a:ext uri="{FF2B5EF4-FFF2-40B4-BE49-F238E27FC236}">
                <a16:creationId xmlns:a16="http://schemas.microsoft.com/office/drawing/2014/main" id="{D36D903A-5DBE-4081-A126-437E33FD9CC4}"/>
              </a:ext>
            </a:extLst>
          </p:cNvPr>
          <p:cNvSpPr>
            <a:spLocks xmlns:a="http://schemas.openxmlformats.org/drawingml/2006/main" noGrp="1"/>
          </p:cNvSpPr>
          <p:nvPr/>
        </p:nvSpPr>
        <p:spPr>
          <a:xfrm xmlns:a="http://schemas.openxmlformats.org/drawingml/2006/main">
            <a:off x="685800" y="3943350"/>
            <a:ext cx="42100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950" b="0">
                <a:solidFill>
                  <a:srgbClr val="F5F1E8"/>
                </a:solidFill>
                <a:latin typeface="DejaVu Sans"/>
                <a:ea typeface="DejaVu Sans"/>
                <a:cs typeface="DejaVu Sans"/>
              </a:defRPr>
            </a:defPPr>
          </a:lstStyle>
          <a:p xmlns:a="http://schemas.openxmlformats.org/drawingml/2006/main">
            <a:pPr algn="r" rtl="1">
              <a:defRPr sz="1950" b="0">
                <a:solidFill>
                  <a:srgbClr val="F5F1E8"/>
                </a:solidFill>
                <a:latin typeface="DejaVu Sans"/>
                <a:ea typeface="DejaVu Sans"/>
                <a:cs typeface="DejaVu Sans"/>
              </a:defRPr>
            </a:pPr>
            <a:r>
              <a:rPr sz="1950" b="0" lang="ar-JO">
                <a:solidFill>
                  <a:srgbClr val="F5F1E8"/>
                </a:solidFill>
                <a:latin typeface="DejaVu Sans"/>
                <a:ea typeface="DejaVu Sans"/>
                <a:cs typeface="DejaVu Sans"/>
              </a:rPr>
              <a:t>١  نشر نشاط تجريبي</a:t>
            </a:r>
          </a:p>
          <a:p xmlns:a="http://schemas.openxmlformats.org/drawingml/2006/main">
            <a:pPr algn="r" rtl="1">
              <a:defRPr sz="1950" b="0">
                <a:solidFill>
                  <a:srgbClr val="F5F1E8"/>
                </a:solidFill>
                <a:latin typeface="DejaVu Sans"/>
                <a:ea typeface="DejaVu Sans"/>
                <a:cs typeface="DejaVu Sans"/>
              </a:defRPr>
            </a:pPr>
            <a:r>
              <a:rPr sz="1950" b="0" lang="ar-JO">
                <a:solidFill>
                  <a:srgbClr val="F5F1E8"/>
                </a:solidFill>
                <a:latin typeface="DejaVu Sans"/>
                <a:ea typeface="DejaVu Sans"/>
                <a:cs typeface="DejaVu Sans"/>
              </a:rPr>
              <a:t>٢  إدخال طلب المستخدم</a:t>
            </a:r>
          </a:p>
          <a:p xmlns:a="http://schemas.openxmlformats.org/drawingml/2006/main">
            <a:pPr algn="r" rtl="1">
              <a:defRPr sz="1950" b="0">
                <a:solidFill>
                  <a:srgbClr val="F5F1E8"/>
                </a:solidFill>
                <a:latin typeface="DejaVu Sans"/>
                <a:ea typeface="DejaVu Sans"/>
                <a:cs typeface="DejaVu Sans"/>
              </a:defRPr>
            </a:pPr>
            <a:r>
              <a:rPr sz="1950" b="0" lang="ar-JO">
                <a:solidFill>
                  <a:srgbClr val="F5F1E8"/>
                </a:solidFill>
                <a:latin typeface="DejaVu Sans"/>
                <a:ea typeface="DejaVu Sans"/>
                <a:cs typeface="DejaVu Sans"/>
              </a:rPr>
              <a:t>٣  توصية وسبب ملاءمتها</a:t>
            </a:r>
          </a:p>
        </p:txBody>
      </p:sp>
      <p:sp>
        <p:nvSpPr>
          <p:cNvPr id="8" name="divider-42">
            <a:extLst xmlns:a="http://schemas.openxmlformats.org/drawingml/2006/main">
              <a:ext uri="{FF2B5EF4-FFF2-40B4-BE49-F238E27FC236}">
                <a16:creationId xmlns:a16="http://schemas.microsoft.com/office/drawing/2014/main" id="{F13E608A-69E4-48B6-A00A-31CE5C1C6266}"/>
              </a:ext>
            </a:extLst>
          </p:cNvPr>
          <p:cNvSpPr>
            <a:spLocks xmlns:a="http://schemas.openxmlformats.org/drawingml/2006/main" noGrp="1"/>
          </p:cNvSpPr>
          <p:nvPr/>
        </p:nvSpPr>
        <p:spPr>
          <a:xfrm xmlns:a="http://schemas.openxmlformats.org/drawingml/2006/main">
            <a:off x="685800" y="5667375"/>
            <a:ext cx="10820400" cy="0"/>
          </a:xfrm>
          <a:prstGeom xmlns:a="http://schemas.openxmlformats.org/drawingml/2006/main" prst="line">
            <a:avLst/>
          </a:prstGeom>
          <a:noFill xmlns:a="http://schemas.openxmlformats.org/drawingml/2006/main"/>
          <a:ln xmlns:a="http://schemas.openxmlformats.org/drawingml/2006/main" w="11430">
            <a:solidFill>
              <a:srgbClr val="547166"/>
            </a:solidFill>
          </a:ln>
        </p:spPr>
      </p:sp>
      <p:sp>
        <p:nvSpPr>
          <p:cNvPr id="9" name="text-43">
            <a:extLst xmlns:a="http://schemas.openxmlformats.org/drawingml/2006/main">
              <a:ext uri="{FF2B5EF4-FFF2-40B4-BE49-F238E27FC236}">
                <a16:creationId xmlns:a16="http://schemas.microsoft.com/office/drawing/2014/main" id="{EF3B37F6-7980-4ABF-9CA7-BCBEA8E23B2F}"/>
              </a:ext>
            </a:extLst>
          </p:cNvPr>
          <p:cNvSpPr>
            <a:spLocks xmlns:a="http://schemas.openxmlformats.org/drawingml/2006/main" noGrp="1"/>
          </p:cNvSpPr>
          <p:nvPr/>
        </p:nvSpPr>
        <p:spPr>
          <a:xfrm xmlns:a="http://schemas.openxmlformats.org/drawingml/2006/main">
            <a:off x="685800" y="58769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F5F1E8"/>
                </a:solidFill>
                <a:latin typeface="DejaVu Sans"/>
                <a:ea typeface="DejaVu Sans"/>
                <a:cs typeface="DejaVu Sans"/>
              </a:defRPr>
            </a:defPPr>
          </a:lstStyle>
          <a:p xmlns:a="http://schemas.openxmlformats.org/drawingml/2006/main">
            <a:pPr algn="r" rtl="1">
              <a:defRPr sz="2175" b="1">
                <a:solidFill>
                  <a:srgbClr val="F5F1E8"/>
                </a:solidFill>
                <a:latin typeface="DejaVu Sans"/>
                <a:ea typeface="DejaVu Sans"/>
                <a:cs typeface="DejaVu Sans"/>
              </a:defRPr>
            </a:pPr>
            <a:r>
              <a:rPr sz="2175" b="1" lang="ar-JO">
                <a:solidFill>
                  <a:srgbClr val="F5F1E8"/>
                </a:solidFill>
                <a:latin typeface="DejaVu Sans"/>
                <a:ea typeface="DejaVu Sans"/>
                <a:cs typeface="DejaVu Sans"/>
              </a:rPr>
              <a:t>القيمة التي نختبرها: وصول المستخدم إلى شركة لم يكن يعرفها</a:t>
            </a:r>
          </a:p>
        </p:txBody>
      </p:sp>
    </p:spTree>
    <p:extLst>
      <p:ext uri="{BB962C8B-B14F-4D97-AF65-F5344CB8AC3E}">
        <p14:creationId xmlns:p14="http://schemas.microsoft.com/office/powerpoint/2010/main" val="1264288177"/>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5" name="page-6">
            <a:extLst xmlns:a="http://schemas.openxmlformats.org/drawingml/2006/main">
              <a:ext uri="{FF2B5EF4-FFF2-40B4-BE49-F238E27FC236}">
                <a16:creationId xmlns:a16="http://schemas.microsoft.com/office/drawing/2014/main" id="{9E00B576-2A84-436E-89E5-CFCE3B62E207}"/>
              </a:ext>
            </a:extLst>
          </p:cNvPr>
          <p:cNvSpPr>
            <a:spLocks xmlns:a="http://schemas.openxmlformats.org/drawingml/2006/main" noGrp="1"/>
          </p:cNvSpPr>
          <p:nvPr/>
        </p:nvSpPr>
        <p:spPr>
          <a:xfrm xmlns:a="http://schemas.openxmlformats.org/drawingml/2006/main">
            <a:off x="685800" y="62865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67726A"/>
                </a:solidFill>
                <a:latin typeface="DejaVu Sans"/>
                <a:ea typeface="DejaVu Sans"/>
                <a:cs typeface="DejaVu Sans"/>
              </a:defRPr>
            </a:defPPr>
          </a:lstStyle>
          <a:p xmlns:a="http://schemas.openxmlformats.org/drawingml/2006/main">
            <a:pPr algn="l">
              <a:defRPr sz="1275" b="0">
                <a:solidFill>
                  <a:srgbClr val="67726A"/>
                </a:solidFill>
                <a:latin typeface="DejaVu Sans"/>
                <a:ea typeface="DejaVu Sans"/>
                <a:cs typeface="DejaVu Sans"/>
              </a:defRPr>
            </a:pPr>
            <a:r>
              <a:rPr sz="1275" b="0">
                <a:solidFill>
                  <a:srgbClr val="67726A"/>
                </a:solidFill>
                <a:latin typeface="DejaVu Sans"/>
                <a:ea typeface="DejaVu Sans"/>
                <a:cs typeface="DejaVu Sans"/>
              </a:rPr>
              <a:t>06</a:t>
            </a:r>
          </a:p>
        </p:txBody>
      </p:sp>
      <p:sp>
        <p:nvSpPr>
          <p:cNvPr id="2" name="slide-title">
            <a:extLst xmlns:a="http://schemas.openxmlformats.org/drawingml/2006/main">
              <a:ext uri="{FF2B5EF4-FFF2-40B4-BE49-F238E27FC236}">
                <a16:creationId xmlns:a16="http://schemas.microsoft.com/office/drawing/2014/main" id="{4520A1D3-5FB9-4E3B-8F0A-2CC8EEEA7A2F}"/>
              </a:ext>
            </a:extLst>
          </p:cNvPr>
          <p:cNvSpPr>
            <a:spLocks xmlns:a="http://schemas.openxmlformats.org/drawingml/2006/main" noGrp="1"/>
          </p:cNvSpPr>
          <p:nvPr/>
        </p:nvSpPr>
        <p:spPr>
          <a:xfrm xmlns:a="http://schemas.openxmlformats.org/drawingml/2006/main">
            <a:off x="685800" y="5810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300" b="1">
                <a:solidFill>
                  <a:srgbClr val="173F35"/>
                </a:solidFill>
                <a:latin typeface="DejaVu Sans"/>
                <a:ea typeface="DejaVu Sans"/>
                <a:cs typeface="DejaVu Sans"/>
              </a:defRPr>
            </a:defPPr>
          </a:lstStyle>
          <a:p xmlns:a="http://schemas.openxmlformats.org/drawingml/2006/main">
            <a:pPr algn="r" rtl="1">
              <a:defRPr sz="3300" b="1">
                <a:solidFill>
                  <a:srgbClr val="173F35"/>
                </a:solidFill>
                <a:latin typeface="DejaVu Sans"/>
                <a:ea typeface="DejaVu Sans"/>
                <a:cs typeface="DejaVu Sans"/>
              </a:defRPr>
            </a:pPr>
            <a:r>
              <a:rPr sz="3300" b="1" lang="ar-JO">
                <a:solidFill>
                  <a:srgbClr val="173F35"/>
                </a:solidFill>
                <a:latin typeface="DejaVu Sans"/>
                <a:ea typeface="DejaVu Sans"/>
                <a:cs typeface="DejaVu Sans"/>
              </a:rPr>
              <a:t>البزنس: الشركات تدفع مقابل قيمة واضحة</a:t>
            </a:r>
          </a:p>
        </p:txBody>
      </p:sp>
      <p:sp>
        <p:nvSpPr>
          <p:cNvPr id="3" name="text-44">
            <a:extLst xmlns:a="http://schemas.openxmlformats.org/drawingml/2006/main">
              <a:ext uri="{FF2B5EF4-FFF2-40B4-BE49-F238E27FC236}">
                <a16:creationId xmlns:a16="http://schemas.microsoft.com/office/drawing/2014/main" id="{CC0B26AB-CAF8-4DF6-85B7-6067764F9817}"/>
              </a:ext>
            </a:extLst>
          </p:cNvPr>
          <p:cNvSpPr>
            <a:spLocks xmlns:a="http://schemas.openxmlformats.org/drawingml/2006/main" noGrp="1"/>
          </p:cNvSpPr>
          <p:nvPr/>
        </p:nvSpPr>
        <p:spPr>
          <a:xfrm xmlns:a="http://schemas.openxmlformats.org/drawingml/2006/main">
            <a:off x="6858000" y="1847850"/>
            <a:ext cx="4648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0">
                <a:solidFill>
                  <a:srgbClr val="67726A"/>
                </a:solidFill>
                <a:latin typeface="DejaVu Sans"/>
                <a:ea typeface="DejaVu Sans"/>
                <a:cs typeface="DejaVu Sans"/>
              </a:defRPr>
            </a:defPPr>
          </a:lstStyle>
          <a:p xmlns:a="http://schemas.openxmlformats.org/drawingml/2006/main">
            <a:pPr algn="r" rtl="1">
              <a:defRPr sz="1875" b="0">
                <a:solidFill>
                  <a:srgbClr val="67726A"/>
                </a:solidFill>
                <a:latin typeface="DejaVu Sans"/>
                <a:ea typeface="DejaVu Sans"/>
                <a:cs typeface="DejaVu Sans"/>
              </a:defRPr>
            </a:pPr>
            <a:r>
              <a:rPr sz="1875" b="0" lang="ar-JO">
                <a:solidFill>
                  <a:srgbClr val="67726A"/>
                </a:solidFill>
                <a:latin typeface="DejaVu Sans"/>
                <a:ea typeface="DejaVu Sans"/>
                <a:cs typeface="DejaVu Sans"/>
              </a:rPr>
              <a:t>للأفراد</a:t>
            </a:r>
          </a:p>
        </p:txBody>
      </p:sp>
      <p:sp>
        <p:nvSpPr>
          <p:cNvPr id="4" name="text-45">
            <a:extLst xmlns:a="http://schemas.openxmlformats.org/drawingml/2006/main">
              <a:ext uri="{FF2B5EF4-FFF2-40B4-BE49-F238E27FC236}">
                <a16:creationId xmlns:a16="http://schemas.microsoft.com/office/drawing/2014/main" id="{0055F90F-2570-456C-9094-3E5D147B602E}"/>
              </a:ext>
            </a:extLst>
          </p:cNvPr>
          <p:cNvSpPr>
            <a:spLocks xmlns:a="http://schemas.openxmlformats.org/drawingml/2006/main" noGrp="1"/>
          </p:cNvSpPr>
          <p:nvPr/>
        </p:nvSpPr>
        <p:spPr>
          <a:xfrm xmlns:a="http://schemas.openxmlformats.org/drawingml/2006/main">
            <a:off x="6858000" y="2286000"/>
            <a:ext cx="4648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4350" b="1">
                <a:solidFill>
                  <a:srgbClr val="173F35"/>
                </a:solidFill>
                <a:latin typeface="DejaVu Sans"/>
                <a:ea typeface="DejaVu Sans"/>
                <a:cs typeface="DejaVu Sans"/>
              </a:defRPr>
            </a:defPPr>
          </a:lstStyle>
          <a:p xmlns:a="http://schemas.openxmlformats.org/drawingml/2006/main">
            <a:pPr algn="r" rtl="1">
              <a:defRPr sz="4350" b="1">
                <a:solidFill>
                  <a:srgbClr val="173F35"/>
                </a:solidFill>
                <a:latin typeface="DejaVu Sans"/>
                <a:ea typeface="DejaVu Sans"/>
                <a:cs typeface="DejaVu Sans"/>
              </a:defRPr>
            </a:pPr>
            <a:r>
              <a:rPr sz="4350" b="1" lang="ar-JO">
                <a:solidFill>
                  <a:srgbClr val="173F35"/>
                </a:solidFill>
                <a:latin typeface="DejaVu Sans"/>
                <a:ea typeface="DejaVu Sans"/>
                <a:cs typeface="DejaVu Sans"/>
              </a:rPr>
              <a:t>مجاني</a:t>
            </a:r>
          </a:p>
        </p:txBody>
      </p:sp>
      <p:sp>
        <p:nvSpPr>
          <p:cNvPr id="5" name="text-46">
            <a:extLst xmlns:a="http://schemas.openxmlformats.org/drawingml/2006/main">
              <a:ext uri="{FF2B5EF4-FFF2-40B4-BE49-F238E27FC236}">
                <a16:creationId xmlns:a16="http://schemas.microsoft.com/office/drawing/2014/main" id="{75722697-88C6-4599-990C-7F680199C69A}"/>
              </a:ext>
            </a:extLst>
          </p:cNvPr>
          <p:cNvSpPr>
            <a:spLocks xmlns:a="http://schemas.openxmlformats.org/drawingml/2006/main" noGrp="1"/>
          </p:cNvSpPr>
          <p:nvPr/>
        </p:nvSpPr>
        <p:spPr>
          <a:xfrm xmlns:a="http://schemas.openxmlformats.org/drawingml/2006/main">
            <a:off x="6172200" y="3267075"/>
            <a:ext cx="533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0">
                <a:solidFill>
                  <a:srgbClr val="263B33"/>
                </a:solidFill>
                <a:latin typeface="DejaVu Sans"/>
                <a:ea typeface="DejaVu Sans"/>
                <a:cs typeface="DejaVu Sans"/>
              </a:defRPr>
            </a:defPPr>
          </a:lstStyle>
          <a:p xmlns:a="http://schemas.openxmlformats.org/drawingml/2006/main">
            <a:pPr algn="r" rtl="1">
              <a:defRPr sz="2100" b="0">
                <a:solidFill>
                  <a:srgbClr val="263B33"/>
                </a:solidFill>
                <a:latin typeface="DejaVu Sans"/>
                <a:ea typeface="DejaVu Sans"/>
                <a:cs typeface="DejaVu Sans"/>
              </a:defRPr>
            </a:pPr>
            <a:r>
              <a:rPr sz="2100" b="0" lang="ar-JO">
                <a:solidFill>
                  <a:srgbClr val="263B33"/>
                </a:solidFill>
                <a:latin typeface="DejaVu Sans"/>
                <a:ea typeface="DejaVu Sans"/>
                <a:cs typeface="DejaVu Sans"/>
              </a:rPr>
              <a:t>اكتشاف الأنشطة والتوصيات</a:t>
            </a:r>
          </a:p>
        </p:txBody>
      </p:sp>
      <p:sp>
        <p:nvSpPr>
          <p:cNvPr id="6" name="text-47">
            <a:extLst xmlns:a="http://schemas.openxmlformats.org/drawingml/2006/main">
              <a:ext uri="{FF2B5EF4-FFF2-40B4-BE49-F238E27FC236}">
                <a16:creationId xmlns:a16="http://schemas.microsoft.com/office/drawing/2014/main" id="{5BEB2F29-AB90-4C45-B52B-0DD03AD3B1E4}"/>
              </a:ext>
            </a:extLst>
          </p:cNvPr>
          <p:cNvSpPr>
            <a:spLocks xmlns:a="http://schemas.openxmlformats.org/drawingml/2006/main" noGrp="1"/>
          </p:cNvSpPr>
          <p:nvPr/>
        </p:nvSpPr>
        <p:spPr>
          <a:xfrm xmlns:a="http://schemas.openxmlformats.org/drawingml/2006/main">
            <a:off x="685800" y="1847850"/>
            <a:ext cx="4857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0">
                <a:solidFill>
                  <a:srgbClr val="67726A"/>
                </a:solidFill>
                <a:latin typeface="DejaVu Sans"/>
                <a:ea typeface="DejaVu Sans"/>
                <a:cs typeface="DejaVu Sans"/>
              </a:defRPr>
            </a:defPPr>
          </a:lstStyle>
          <a:p xmlns:a="http://schemas.openxmlformats.org/drawingml/2006/main">
            <a:pPr algn="r" rtl="1">
              <a:defRPr sz="1875" b="0">
                <a:solidFill>
                  <a:srgbClr val="67726A"/>
                </a:solidFill>
                <a:latin typeface="DejaVu Sans"/>
                <a:ea typeface="DejaVu Sans"/>
                <a:cs typeface="DejaVu Sans"/>
              </a:defRPr>
            </a:pPr>
            <a:r>
              <a:rPr sz="1875" b="0" lang="ar-JO">
                <a:solidFill>
                  <a:srgbClr val="67726A"/>
                </a:solidFill>
                <a:latin typeface="DejaVu Sans"/>
                <a:ea typeface="DejaVu Sans"/>
                <a:cs typeface="DejaVu Sans"/>
              </a:rPr>
              <a:t>للشركات</a:t>
            </a:r>
          </a:p>
        </p:txBody>
      </p:sp>
      <p:sp>
        <p:nvSpPr>
          <p:cNvPr id="7" name="text-48">
            <a:extLst xmlns:a="http://schemas.openxmlformats.org/drawingml/2006/main">
              <a:ext uri="{FF2B5EF4-FFF2-40B4-BE49-F238E27FC236}">
                <a16:creationId xmlns:a16="http://schemas.microsoft.com/office/drawing/2014/main" id="{A025D962-5F58-453C-B2D7-844B486CFECE}"/>
              </a:ext>
            </a:extLst>
          </p:cNvPr>
          <p:cNvSpPr>
            <a:spLocks xmlns:a="http://schemas.openxmlformats.org/drawingml/2006/main" noGrp="1"/>
          </p:cNvSpPr>
          <p:nvPr/>
        </p:nvSpPr>
        <p:spPr>
          <a:xfrm xmlns:a="http://schemas.openxmlformats.org/drawingml/2006/main">
            <a:off x="685800" y="2362200"/>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450" b="1">
                <a:solidFill>
                  <a:srgbClr val="C76536"/>
                </a:solidFill>
                <a:latin typeface="DejaVu Sans"/>
                <a:ea typeface="DejaVu Sans"/>
                <a:cs typeface="DejaVu Sans"/>
              </a:defRPr>
            </a:defPPr>
          </a:lstStyle>
          <a:p xmlns:a="http://schemas.openxmlformats.org/drawingml/2006/main">
            <a:pPr algn="r" rtl="1">
              <a:defRPr sz="3450" b="1">
                <a:solidFill>
                  <a:srgbClr val="C76536"/>
                </a:solidFill>
                <a:latin typeface="DejaVu Sans"/>
                <a:ea typeface="DejaVu Sans"/>
                <a:cs typeface="DejaVu Sans"/>
              </a:defRPr>
            </a:pPr>
            <a:r>
              <a:rPr sz="3450" b="1" lang="ar-JO">
                <a:solidFill>
                  <a:srgbClr val="C76536"/>
                </a:solidFill>
                <a:latin typeface="DejaVu Sans"/>
                <a:ea typeface="DejaVu Sans"/>
                <a:cs typeface="DejaVu Sans"/>
              </a:rPr>
              <a:t>١٠ دنانير / شهر</a:t>
            </a:r>
          </a:p>
        </p:txBody>
      </p:sp>
      <p:sp>
        <p:nvSpPr>
          <p:cNvPr id="8" name="text-49">
            <a:extLst xmlns:a="http://schemas.openxmlformats.org/drawingml/2006/main">
              <a:ext uri="{FF2B5EF4-FFF2-40B4-BE49-F238E27FC236}">
                <a16:creationId xmlns:a16="http://schemas.microsoft.com/office/drawing/2014/main" id="{74392EAC-5F69-4000-BC20-D19ED5C55CC4}"/>
              </a:ext>
            </a:extLst>
          </p:cNvPr>
          <p:cNvSpPr>
            <a:spLocks xmlns:a="http://schemas.openxmlformats.org/drawingml/2006/main" noGrp="1"/>
          </p:cNvSpPr>
          <p:nvPr/>
        </p:nvSpPr>
        <p:spPr>
          <a:xfrm xmlns:a="http://schemas.openxmlformats.org/drawingml/2006/main">
            <a:off x="685800" y="313372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0">
                <a:solidFill>
                  <a:srgbClr val="263B33"/>
                </a:solidFill>
                <a:latin typeface="DejaVu Sans"/>
                <a:ea typeface="DejaVu Sans"/>
                <a:cs typeface="DejaVu Sans"/>
              </a:defRPr>
            </a:defPPr>
          </a:lstStyle>
          <a:p xmlns:a="http://schemas.openxmlformats.org/drawingml/2006/main">
            <a:pPr algn="r" rtl="1">
              <a:defRPr sz="2025" b="0">
                <a:solidFill>
                  <a:srgbClr val="263B33"/>
                </a:solidFill>
                <a:latin typeface="DejaVu Sans"/>
                <a:ea typeface="DejaVu Sans"/>
                <a:cs typeface="DejaVu Sans"/>
              </a:defRPr>
            </a:pPr>
            <a:r>
              <a:rPr sz="2025" b="0" lang="ar-JO">
                <a:solidFill>
                  <a:srgbClr val="263B33"/>
                </a:solidFill>
                <a:latin typeface="DejaVu Sans"/>
                <a:ea typeface="DejaVu Sans"/>
                <a:cs typeface="DejaVu Sans"/>
              </a:rPr>
              <a:t>اشتراك اختياري مقترح لأدوات</a:t>
            </a:r>
          </a:p>
          <a:p xmlns:a="http://schemas.openxmlformats.org/drawingml/2006/main">
            <a:pPr algn="r" rtl="1">
              <a:defRPr sz="2025" b="0">
                <a:solidFill>
                  <a:srgbClr val="263B33"/>
                </a:solidFill>
                <a:latin typeface="DejaVu Sans"/>
                <a:ea typeface="DejaVu Sans"/>
                <a:cs typeface="DejaVu Sans"/>
              </a:defRPr>
            </a:pPr>
            <a:r>
              <a:rPr sz="2025" b="0" lang="ar-JO">
                <a:solidFill>
                  <a:srgbClr val="263B33"/>
                </a:solidFill>
                <a:latin typeface="DejaVu Sans"/>
                <a:ea typeface="DejaVu Sans"/>
                <a:cs typeface="DejaVu Sans"/>
              </a:rPr>
              <a:t>الإدارة وقياس التفاعل</a:t>
            </a:r>
          </a:p>
        </p:txBody>
      </p:sp>
      <p:sp>
        <p:nvSpPr>
          <p:cNvPr id="9" name="divider-50">
            <a:extLst xmlns:a="http://schemas.openxmlformats.org/drawingml/2006/main">
              <a:ext uri="{FF2B5EF4-FFF2-40B4-BE49-F238E27FC236}">
                <a16:creationId xmlns:a16="http://schemas.microsoft.com/office/drawing/2014/main" id="{124525F6-107D-436E-B8AE-08D5A501A0B0}"/>
              </a:ext>
            </a:extLst>
          </p:cNvPr>
          <p:cNvSpPr>
            <a:spLocks xmlns:a="http://schemas.openxmlformats.org/drawingml/2006/main" noGrp="1"/>
          </p:cNvSpPr>
          <p:nvPr/>
        </p:nvSpPr>
        <p:spPr>
          <a:xfrm xmlns:a="http://schemas.openxmlformats.org/drawingml/2006/main">
            <a:off x="685800" y="4248150"/>
            <a:ext cx="10820400" cy="0"/>
          </a:xfrm>
          <a:prstGeom xmlns:a="http://schemas.openxmlformats.org/drawingml/2006/main" prst="line">
            <a:avLst/>
          </a:prstGeom>
          <a:noFill xmlns:a="http://schemas.openxmlformats.org/drawingml/2006/main"/>
          <a:ln xmlns:a="http://schemas.openxmlformats.org/drawingml/2006/main" w="11430">
            <a:solidFill>
              <a:srgbClr val="D8DDD0"/>
            </a:solidFill>
          </a:ln>
        </p:spPr>
      </p:sp>
      <p:sp>
        <p:nvSpPr>
          <p:cNvPr id="10" name="text-51">
            <a:extLst xmlns:a="http://schemas.openxmlformats.org/drawingml/2006/main">
              <a:ext uri="{FF2B5EF4-FFF2-40B4-BE49-F238E27FC236}">
                <a16:creationId xmlns:a16="http://schemas.microsoft.com/office/drawing/2014/main" id="{FA29FAB3-2676-4803-8F76-5ACFE0EF174A}"/>
              </a:ext>
            </a:extLst>
          </p:cNvPr>
          <p:cNvSpPr>
            <a:spLocks xmlns:a="http://schemas.openxmlformats.org/drawingml/2006/main" noGrp="1"/>
          </p:cNvSpPr>
          <p:nvPr/>
        </p:nvSpPr>
        <p:spPr>
          <a:xfrm xmlns:a="http://schemas.openxmlformats.org/drawingml/2006/main">
            <a:off x="6372225" y="4562475"/>
            <a:ext cx="5133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67726A"/>
                </a:solidFill>
                <a:latin typeface="DejaVu Sans"/>
                <a:ea typeface="DejaVu Sans"/>
                <a:cs typeface="DejaVu Sans"/>
              </a:defRPr>
            </a:defPPr>
          </a:lstStyle>
          <a:p xmlns:a="http://schemas.openxmlformats.org/drawingml/2006/main">
            <a:pPr algn="r" rtl="1">
              <a:defRPr sz="1800" b="0">
                <a:solidFill>
                  <a:srgbClr val="67726A"/>
                </a:solidFill>
                <a:latin typeface="DejaVu Sans"/>
                <a:ea typeface="DejaVu Sans"/>
                <a:cs typeface="DejaVu Sans"/>
              </a:defRPr>
            </a:pPr>
            <a:r>
              <a:rPr sz="1800" b="0" lang="ar-JO">
                <a:solidFill>
                  <a:srgbClr val="67726A"/>
                </a:solidFill>
                <a:latin typeface="DejaVu Sans"/>
                <a:ea typeface="DejaVu Sans"/>
                <a:cs typeface="DejaVu Sans"/>
              </a:rPr>
              <a:t>مثال إيراد شهري افتراضي</a:t>
            </a:r>
          </a:p>
        </p:txBody>
      </p:sp>
      <p:sp>
        <p:nvSpPr>
          <p:cNvPr id="11" name="text-52">
            <a:extLst xmlns:a="http://schemas.openxmlformats.org/drawingml/2006/main">
              <a:ext uri="{FF2B5EF4-FFF2-40B4-BE49-F238E27FC236}">
                <a16:creationId xmlns:a16="http://schemas.microsoft.com/office/drawing/2014/main" id="{5495012C-D0F9-469A-A515-80494143A052}"/>
              </a:ext>
            </a:extLst>
          </p:cNvPr>
          <p:cNvSpPr>
            <a:spLocks xmlns:a="http://schemas.openxmlformats.org/drawingml/2006/main" noGrp="1"/>
          </p:cNvSpPr>
          <p:nvPr/>
        </p:nvSpPr>
        <p:spPr>
          <a:xfrm xmlns:a="http://schemas.openxmlformats.org/drawingml/2006/main">
            <a:off x="5981700" y="5048250"/>
            <a:ext cx="5524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325" b="1">
                <a:solidFill>
                  <a:srgbClr val="173F35"/>
                </a:solidFill>
                <a:latin typeface="DejaVu Sans"/>
                <a:ea typeface="DejaVu Sans"/>
                <a:cs typeface="DejaVu Sans"/>
              </a:defRPr>
            </a:defPPr>
          </a:lstStyle>
          <a:p xmlns:a="http://schemas.openxmlformats.org/drawingml/2006/main">
            <a:pPr algn="r" rtl="1">
              <a:defRPr sz="2325" b="1">
                <a:solidFill>
                  <a:srgbClr val="173F35"/>
                </a:solidFill>
                <a:latin typeface="DejaVu Sans"/>
                <a:ea typeface="DejaVu Sans"/>
                <a:cs typeface="DejaVu Sans"/>
              </a:defRPr>
            </a:pPr>
            <a:r>
              <a:rPr sz="2325" b="1" lang="ar-JO">
                <a:solidFill>
                  <a:srgbClr val="173F35"/>
                </a:solidFill>
                <a:latin typeface="DejaVu Sans"/>
                <a:ea typeface="DejaVu Sans"/>
                <a:cs typeface="DejaVu Sans"/>
              </a:rPr>
              <a:t>٥٠ شركة × ١٠ = ٥٠٠ دينار</a:t>
            </a:r>
          </a:p>
        </p:txBody>
      </p:sp>
      <p:sp>
        <p:nvSpPr>
          <p:cNvPr id="12" name="text-53">
            <a:extLst xmlns:a="http://schemas.openxmlformats.org/drawingml/2006/main">
              <a:ext uri="{FF2B5EF4-FFF2-40B4-BE49-F238E27FC236}">
                <a16:creationId xmlns:a16="http://schemas.microsoft.com/office/drawing/2014/main" id="{0DAFAE69-AFCF-4828-9FA6-9D728AF5AFE3}"/>
              </a:ext>
            </a:extLst>
          </p:cNvPr>
          <p:cNvSpPr>
            <a:spLocks xmlns:a="http://schemas.openxmlformats.org/drawingml/2006/main" noGrp="1"/>
          </p:cNvSpPr>
          <p:nvPr/>
        </p:nvSpPr>
        <p:spPr>
          <a:xfrm xmlns:a="http://schemas.openxmlformats.org/drawingml/2006/main">
            <a:off x="685800" y="4562475"/>
            <a:ext cx="4895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67726A"/>
                </a:solidFill>
                <a:latin typeface="DejaVu Sans"/>
                <a:ea typeface="DejaVu Sans"/>
                <a:cs typeface="DejaVu Sans"/>
              </a:defRPr>
            </a:defPPr>
          </a:lstStyle>
          <a:p xmlns:a="http://schemas.openxmlformats.org/drawingml/2006/main">
            <a:pPr algn="r" rtl="1">
              <a:defRPr sz="1800" b="0">
                <a:solidFill>
                  <a:srgbClr val="67726A"/>
                </a:solidFill>
                <a:latin typeface="DejaVu Sans"/>
                <a:ea typeface="DejaVu Sans"/>
                <a:cs typeface="DejaVu Sans"/>
              </a:defRPr>
            </a:pPr>
            <a:r>
              <a:rPr sz="1800" b="0" lang="ar-JO">
                <a:solidFill>
                  <a:srgbClr val="67726A"/>
                </a:solidFill>
                <a:latin typeface="DejaVu Sans"/>
                <a:ea typeface="DejaVu Sans"/>
                <a:cs typeface="DejaVu Sans"/>
              </a:rPr>
              <a:t>سقف ميزانية اختبار التشغيل</a:t>
            </a:r>
          </a:p>
        </p:txBody>
      </p:sp>
      <p:sp>
        <p:nvSpPr>
          <p:cNvPr id="13" name="text-54">
            <a:extLst xmlns:a="http://schemas.openxmlformats.org/drawingml/2006/main">
              <a:ext uri="{FF2B5EF4-FFF2-40B4-BE49-F238E27FC236}">
                <a16:creationId xmlns:a16="http://schemas.microsoft.com/office/drawing/2014/main" id="{2BE9F808-0957-4749-8564-169AFFF6EFB8}"/>
              </a:ext>
            </a:extLst>
          </p:cNvPr>
          <p:cNvSpPr>
            <a:spLocks xmlns:a="http://schemas.openxmlformats.org/drawingml/2006/main" noGrp="1"/>
          </p:cNvSpPr>
          <p:nvPr/>
        </p:nvSpPr>
        <p:spPr>
          <a:xfrm xmlns:a="http://schemas.openxmlformats.org/drawingml/2006/main">
            <a:off x="685800" y="5048250"/>
            <a:ext cx="48958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475" b="1">
                <a:solidFill>
                  <a:srgbClr val="173F35"/>
                </a:solidFill>
                <a:latin typeface="DejaVu Sans"/>
                <a:ea typeface="DejaVu Sans"/>
                <a:cs typeface="DejaVu Sans"/>
              </a:defRPr>
            </a:defPPr>
          </a:lstStyle>
          <a:p xmlns:a="http://schemas.openxmlformats.org/drawingml/2006/main">
            <a:pPr algn="r" rtl="1">
              <a:defRPr sz="2475" b="1">
                <a:solidFill>
                  <a:srgbClr val="173F35"/>
                </a:solidFill>
                <a:latin typeface="DejaVu Sans"/>
                <a:ea typeface="DejaVu Sans"/>
                <a:cs typeface="DejaVu Sans"/>
              </a:defRPr>
            </a:pPr>
            <a:r>
              <a:rPr sz="2475" b="1" lang="ar-JO">
                <a:solidFill>
                  <a:srgbClr val="173F35"/>
                </a:solidFill>
                <a:latin typeface="DejaVu Sans"/>
                <a:ea typeface="DejaVu Sans"/>
                <a:cs typeface="DejaVu Sans"/>
              </a:rPr>
              <a:t>حتى ٧٥ دينارًا / شهر</a:t>
            </a:r>
          </a:p>
        </p:txBody>
      </p:sp>
      <p:sp>
        <p:nvSpPr>
          <p:cNvPr id="14" name="text-55">
            <a:extLst xmlns:a="http://schemas.openxmlformats.org/drawingml/2006/main">
              <a:ext uri="{FF2B5EF4-FFF2-40B4-BE49-F238E27FC236}">
                <a16:creationId xmlns:a16="http://schemas.microsoft.com/office/drawing/2014/main" id="{97998938-713F-4FB2-AC43-0AC0E57B56CF}"/>
              </a:ext>
            </a:extLst>
          </p:cNvPr>
          <p:cNvSpPr>
            <a:spLocks xmlns:a="http://schemas.openxmlformats.org/drawingml/2006/main" noGrp="1"/>
          </p:cNvSpPr>
          <p:nvPr/>
        </p:nvSpPr>
        <p:spPr>
          <a:xfrm xmlns:a="http://schemas.openxmlformats.org/drawingml/2006/main">
            <a:off x="685800" y="5791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0">
                <a:solidFill>
                  <a:srgbClr val="67726A"/>
                </a:solidFill>
                <a:latin typeface="DejaVu Sans"/>
                <a:ea typeface="DejaVu Sans"/>
                <a:cs typeface="DejaVu Sans"/>
              </a:defRPr>
            </a:defPPr>
          </a:lstStyle>
          <a:p xmlns:a="http://schemas.openxmlformats.org/drawingml/2006/main">
            <a:pPr algn="r" rtl="1">
              <a:defRPr sz="1425" b="0">
                <a:solidFill>
                  <a:srgbClr val="67726A"/>
                </a:solidFill>
                <a:latin typeface="DejaVu Sans"/>
                <a:ea typeface="DejaVu Sans"/>
                <a:cs typeface="DejaVu Sans"/>
              </a:defRPr>
            </a:pPr>
            <a:r>
              <a:rPr sz="1425" b="0" lang="ar-JO">
                <a:solidFill>
                  <a:srgbClr val="67726A"/>
                </a:solidFill>
                <a:latin typeface="DejaVu Sans"/>
                <a:ea typeface="DejaVu Sans"/>
                <a:cs typeface="DejaVu Sans"/>
              </a:rPr>
              <a:t>افتراضات للاختبار. التشغيل يشمل الاستضافة والبيانات وطلبات الذكاء الاصطناعي.</a:t>
            </a:r>
          </a:p>
          <a:p xmlns:a="http://schemas.openxmlformats.org/drawingml/2006/main">
            <a:pPr algn="r" rtl="1">
              <a:defRPr sz="1425" b="0">
                <a:solidFill>
                  <a:srgbClr val="67726A"/>
                </a:solidFill>
                <a:latin typeface="DejaVu Sans"/>
                <a:ea typeface="DejaVu Sans"/>
                <a:cs typeface="DejaVu Sans"/>
              </a:defRPr>
            </a:pPr>
            <a:r>
              <a:rPr sz="1425" b="0" lang="ar-JO">
                <a:solidFill>
                  <a:srgbClr val="67726A"/>
                </a:solidFill>
                <a:latin typeface="DejaVu Sans"/>
                <a:ea typeface="DejaVu Sans"/>
                <a:cs typeface="DejaVu Sans"/>
              </a:rPr>
              <a:t>لا يشمل الرواتب والتسويق، ولا يمثّل تكلفة فعلية مقاسة أو إيرادًا محقّقًا.</a:t>
            </a:r>
          </a:p>
        </p:txBody>
      </p:sp>
    </p:spTree>
    <p:extLst>
      <p:ext uri="{BB962C8B-B14F-4D97-AF65-F5344CB8AC3E}">
        <p14:creationId xmlns:p14="http://schemas.microsoft.com/office/powerpoint/2010/main" val="518620029"/>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5" name="page-7">
            <a:extLst xmlns:a="http://schemas.openxmlformats.org/drawingml/2006/main">
              <a:ext uri="{FF2B5EF4-FFF2-40B4-BE49-F238E27FC236}">
                <a16:creationId xmlns:a16="http://schemas.microsoft.com/office/drawing/2014/main" id="{0C1FBB40-3190-41BC-995B-95A1B2467F97}"/>
              </a:ext>
            </a:extLst>
          </p:cNvPr>
          <p:cNvSpPr>
            <a:spLocks xmlns:a="http://schemas.openxmlformats.org/drawingml/2006/main" noGrp="1"/>
          </p:cNvSpPr>
          <p:nvPr/>
        </p:nvSpPr>
        <p:spPr>
          <a:xfrm xmlns:a="http://schemas.openxmlformats.org/drawingml/2006/main">
            <a:off x="685800" y="62865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67726A"/>
                </a:solidFill>
                <a:latin typeface="DejaVu Sans"/>
                <a:ea typeface="DejaVu Sans"/>
                <a:cs typeface="DejaVu Sans"/>
              </a:defRPr>
            </a:defPPr>
          </a:lstStyle>
          <a:p xmlns:a="http://schemas.openxmlformats.org/drawingml/2006/main">
            <a:pPr algn="l">
              <a:defRPr sz="1275" b="0">
                <a:solidFill>
                  <a:srgbClr val="67726A"/>
                </a:solidFill>
                <a:latin typeface="DejaVu Sans"/>
                <a:ea typeface="DejaVu Sans"/>
                <a:cs typeface="DejaVu Sans"/>
              </a:defRPr>
            </a:pPr>
            <a:r>
              <a:rPr sz="1275" b="0">
                <a:solidFill>
                  <a:srgbClr val="67726A"/>
                </a:solidFill>
                <a:latin typeface="DejaVu Sans"/>
                <a:ea typeface="DejaVu Sans"/>
                <a:cs typeface="DejaVu Sans"/>
              </a:rPr>
              <a:t>07</a:t>
            </a:r>
          </a:p>
        </p:txBody>
      </p:sp>
      <p:sp>
        <p:nvSpPr>
          <p:cNvPr id="2" name="slide-title">
            <a:extLst xmlns:a="http://schemas.openxmlformats.org/drawingml/2006/main">
              <a:ext uri="{FF2B5EF4-FFF2-40B4-BE49-F238E27FC236}">
                <a16:creationId xmlns:a16="http://schemas.microsoft.com/office/drawing/2014/main" id="{582FCEB0-9367-41C1-86A9-412DCEE82CE6}"/>
              </a:ext>
            </a:extLst>
          </p:cNvPr>
          <p:cNvSpPr>
            <a:spLocks xmlns:a="http://schemas.openxmlformats.org/drawingml/2006/main" noGrp="1"/>
          </p:cNvSpPr>
          <p:nvPr/>
        </p:nvSpPr>
        <p:spPr>
          <a:xfrm xmlns:a="http://schemas.openxmlformats.org/drawingml/2006/main">
            <a:off x="685800" y="5810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300" b="1">
                <a:solidFill>
                  <a:srgbClr val="173F35"/>
                </a:solidFill>
                <a:latin typeface="DejaVu Sans"/>
                <a:ea typeface="DejaVu Sans"/>
                <a:cs typeface="DejaVu Sans"/>
              </a:defRPr>
            </a:defPPr>
          </a:lstStyle>
          <a:p xmlns:a="http://schemas.openxmlformats.org/drawingml/2006/main">
            <a:pPr algn="r" rtl="1">
              <a:defRPr sz="3300" b="1">
                <a:solidFill>
                  <a:srgbClr val="173F35"/>
                </a:solidFill>
                <a:latin typeface="DejaVu Sans"/>
                <a:ea typeface="DejaVu Sans"/>
                <a:cs typeface="DejaVu Sans"/>
              </a:defRPr>
            </a:pPr>
            <a:r>
              <a:rPr sz="3300" b="1" lang="ar-JO">
                <a:solidFill>
                  <a:srgbClr val="173F35"/>
                </a:solidFill>
                <a:latin typeface="DejaVu Sans"/>
                <a:ea typeface="DejaVu Sans"/>
                <a:cs typeface="DejaVu Sans"/>
              </a:rPr>
              <a:t>الأثر على الاقتصاد المحلي</a:t>
            </a:r>
          </a:p>
        </p:txBody>
      </p:sp>
      <p:sp>
        <p:nvSpPr>
          <p:cNvPr id="3" name="text-56">
            <a:extLst xmlns:a="http://schemas.openxmlformats.org/drawingml/2006/main">
              <a:ext uri="{FF2B5EF4-FFF2-40B4-BE49-F238E27FC236}">
                <a16:creationId xmlns:a16="http://schemas.microsoft.com/office/drawing/2014/main" id="{0AB8B512-A340-41CE-A005-C79F7ED20384}"/>
              </a:ext>
            </a:extLst>
          </p:cNvPr>
          <p:cNvSpPr>
            <a:spLocks xmlns:a="http://schemas.openxmlformats.org/drawingml/2006/main" noGrp="1"/>
          </p:cNvSpPr>
          <p:nvPr/>
        </p:nvSpPr>
        <p:spPr>
          <a:xfrm xmlns:a="http://schemas.openxmlformats.org/drawingml/2006/main">
            <a:off x="5867400" y="1905000"/>
            <a:ext cx="56388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925" b="1">
                <a:solidFill>
                  <a:srgbClr val="173F35"/>
                </a:solidFill>
                <a:latin typeface="DejaVu Sans"/>
                <a:ea typeface="DejaVu Sans"/>
                <a:cs typeface="DejaVu Sans"/>
              </a:defRPr>
            </a:defPPr>
          </a:lstStyle>
          <a:p xmlns:a="http://schemas.openxmlformats.org/drawingml/2006/main">
            <a:pPr algn="r" rtl="1">
              <a:defRPr sz="2925" b="1">
                <a:solidFill>
                  <a:srgbClr val="173F35"/>
                </a:solidFill>
                <a:latin typeface="DejaVu Sans"/>
                <a:ea typeface="DejaVu Sans"/>
                <a:cs typeface="DejaVu Sans"/>
              </a:defRPr>
            </a:pPr>
            <a:r>
              <a:rPr sz="2925" b="1" lang="ar-JO">
                <a:solidFill>
                  <a:srgbClr val="173F35"/>
                </a:solidFill>
                <a:latin typeface="DejaVu Sans"/>
                <a:ea typeface="DejaVu Sans"/>
                <a:cs typeface="DejaVu Sans"/>
              </a:rPr>
              <a:t>ظهور أكثر للشركات الصغيرة</a:t>
            </a:r>
          </a:p>
          <a:p xmlns:a="http://schemas.openxmlformats.org/drawingml/2006/main">
            <a:pPr algn="r" rtl="1">
              <a:defRPr sz="2925" b="1">
                <a:solidFill>
                  <a:srgbClr val="173F35"/>
                </a:solidFill>
                <a:latin typeface="DejaVu Sans"/>
                <a:ea typeface="DejaVu Sans"/>
                <a:cs typeface="DejaVu Sans"/>
              </a:defRPr>
            </a:pPr>
            <a:r>
              <a:rPr sz="2925" b="1" lang="ar-JO">
                <a:solidFill>
                  <a:srgbClr val="173F35"/>
                </a:solidFill>
                <a:latin typeface="DejaVu Sans"/>
                <a:ea typeface="DejaVu Sans"/>
                <a:cs typeface="DejaVu Sans"/>
              </a:rPr>
              <a:t>وفرص أكثر لإنفاق محلي</a:t>
            </a:r>
          </a:p>
        </p:txBody>
      </p:sp>
      <p:sp>
        <p:nvSpPr>
          <p:cNvPr id="4" name="text-57">
            <a:extLst xmlns:a="http://schemas.openxmlformats.org/drawingml/2006/main">
              <a:ext uri="{FF2B5EF4-FFF2-40B4-BE49-F238E27FC236}">
                <a16:creationId xmlns:a16="http://schemas.microsoft.com/office/drawing/2014/main" id="{3AC35766-D13D-4BAF-A0D6-9BC5DBC4E64D}"/>
              </a:ext>
            </a:extLst>
          </p:cNvPr>
          <p:cNvSpPr>
            <a:spLocks xmlns:a="http://schemas.openxmlformats.org/drawingml/2006/main" noGrp="1"/>
          </p:cNvSpPr>
          <p:nvPr/>
        </p:nvSpPr>
        <p:spPr>
          <a:xfrm xmlns:a="http://schemas.openxmlformats.org/drawingml/2006/main">
            <a:off x="6057900" y="3352800"/>
            <a:ext cx="54483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0">
                <a:solidFill>
                  <a:srgbClr val="263B33"/>
                </a:solidFill>
                <a:latin typeface="DejaVu Sans"/>
                <a:ea typeface="DejaVu Sans"/>
                <a:cs typeface="DejaVu Sans"/>
              </a:defRPr>
            </a:defPPr>
          </a:lstStyle>
          <a:p xmlns:a="http://schemas.openxmlformats.org/drawingml/2006/main">
            <a:pPr algn="r" rtl="1">
              <a:defRPr sz="2175" b="0">
                <a:solidFill>
                  <a:srgbClr val="263B33"/>
                </a:solidFill>
                <a:latin typeface="DejaVu Sans"/>
                <a:ea typeface="DejaVu Sans"/>
                <a:cs typeface="DejaVu Sans"/>
              </a:defRPr>
            </a:pPr>
            <a:r>
              <a:rPr sz="2175" b="0" lang="ar-JO">
                <a:solidFill>
                  <a:srgbClr val="263B33"/>
                </a:solidFill>
                <a:latin typeface="DejaVu Sans"/>
                <a:ea typeface="DejaVu Sans"/>
                <a:cs typeface="DejaVu Sans"/>
              </a:rPr>
              <a:t>التوصية المناسبة تزيد فرصة</a:t>
            </a:r>
          </a:p>
          <a:p xmlns:a="http://schemas.openxmlformats.org/drawingml/2006/main">
            <a:pPr algn="r" rtl="1">
              <a:defRPr sz="2175" b="0">
                <a:solidFill>
                  <a:srgbClr val="263B33"/>
                </a:solidFill>
                <a:latin typeface="DejaVu Sans"/>
                <a:ea typeface="DejaVu Sans"/>
                <a:cs typeface="DejaVu Sans"/>
              </a:defRPr>
            </a:pPr>
            <a:r>
              <a:rPr sz="2175" b="0" lang="ar-JO">
                <a:solidFill>
                  <a:srgbClr val="263B33"/>
                </a:solidFill>
                <a:latin typeface="DejaVu Sans"/>
                <a:ea typeface="DejaVu Sans"/>
                <a:cs typeface="DejaVu Sans"/>
              </a:rPr>
              <a:t>التواصل والشراء من مزوّد محلي.</a:t>
            </a:r>
          </a:p>
        </p:txBody>
      </p:sp>
      <p:sp>
        <p:nvSpPr>
          <p:cNvPr id="5" name="text-58">
            <a:extLst xmlns:a="http://schemas.openxmlformats.org/drawingml/2006/main">
              <a:ext uri="{FF2B5EF4-FFF2-40B4-BE49-F238E27FC236}">
                <a16:creationId xmlns:a16="http://schemas.microsoft.com/office/drawing/2014/main" id="{4DF9064C-A87D-40D7-A4F0-C1EFDAA80D1E}"/>
              </a:ext>
            </a:extLst>
          </p:cNvPr>
          <p:cNvSpPr>
            <a:spLocks xmlns:a="http://schemas.openxmlformats.org/drawingml/2006/main" noGrp="1"/>
          </p:cNvSpPr>
          <p:nvPr/>
        </p:nvSpPr>
        <p:spPr>
          <a:xfrm xmlns:a="http://schemas.openxmlformats.org/drawingml/2006/main">
            <a:off x="685800" y="1924050"/>
            <a:ext cx="4371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250" b="1">
                <a:solidFill>
                  <a:srgbClr val="C76536"/>
                </a:solidFill>
                <a:latin typeface="DejaVu Sans"/>
                <a:ea typeface="DejaVu Sans"/>
                <a:cs typeface="DejaVu Sans"/>
              </a:defRPr>
            </a:defPPr>
          </a:lstStyle>
          <a:p xmlns:a="http://schemas.openxmlformats.org/drawingml/2006/main">
            <a:pPr algn="r" rtl="1">
              <a:defRPr sz="2250" b="1">
                <a:solidFill>
                  <a:srgbClr val="C76536"/>
                </a:solidFill>
                <a:latin typeface="DejaVu Sans"/>
                <a:ea typeface="DejaVu Sans"/>
                <a:cs typeface="DejaVu Sans"/>
              </a:defRPr>
            </a:pPr>
            <a:r>
              <a:rPr sz="2250" b="1" lang="ar-JO">
                <a:solidFill>
                  <a:srgbClr val="C76536"/>
                </a:solidFill>
                <a:latin typeface="DejaVu Sans"/>
                <a:ea typeface="DejaVu Sans"/>
                <a:cs typeface="DejaVu Sans"/>
              </a:rPr>
              <a:t>كيف نقيسه؟</a:t>
            </a:r>
          </a:p>
        </p:txBody>
      </p:sp>
      <p:sp>
        <p:nvSpPr>
          <p:cNvPr id="6" name="text-59">
            <a:extLst xmlns:a="http://schemas.openxmlformats.org/drawingml/2006/main">
              <a:ext uri="{FF2B5EF4-FFF2-40B4-BE49-F238E27FC236}">
                <a16:creationId xmlns:a16="http://schemas.microsoft.com/office/drawing/2014/main" id="{982F62E0-5302-42B4-8CC5-C51D04FCE3EB}"/>
              </a:ext>
            </a:extLst>
          </p:cNvPr>
          <p:cNvSpPr>
            <a:spLocks xmlns:a="http://schemas.openxmlformats.org/drawingml/2006/main" noGrp="1"/>
          </p:cNvSpPr>
          <p:nvPr/>
        </p:nvSpPr>
        <p:spPr>
          <a:xfrm xmlns:a="http://schemas.openxmlformats.org/drawingml/2006/main">
            <a:off x="685800" y="2647950"/>
            <a:ext cx="4619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0">
                <a:solidFill>
                  <a:srgbClr val="263B33"/>
                </a:solidFill>
                <a:latin typeface="DejaVu Sans"/>
                <a:ea typeface="DejaVu Sans"/>
                <a:cs typeface="DejaVu Sans"/>
              </a:defRPr>
            </a:defPPr>
          </a:lstStyle>
          <a:p xmlns:a="http://schemas.openxmlformats.org/drawingml/2006/main">
            <a:pPr algn="r" rtl="1">
              <a:defRPr sz="2100" b="0">
                <a:solidFill>
                  <a:srgbClr val="263B33"/>
                </a:solidFill>
                <a:latin typeface="DejaVu Sans"/>
                <a:ea typeface="DejaVu Sans"/>
                <a:cs typeface="DejaVu Sans"/>
              </a:defRPr>
            </a:pPr>
            <a:r>
              <a:rPr sz="2100" b="0" lang="ar-JO">
                <a:solidFill>
                  <a:srgbClr val="263B33"/>
                </a:solidFill>
                <a:latin typeface="DejaVu Sans"/>
                <a:ea typeface="DejaVu Sans"/>
                <a:cs typeface="DejaVu Sans"/>
              </a:rPr>
              <a:t>شركات نشطة على المنصّة</a:t>
            </a:r>
          </a:p>
          <a:p xmlns:a="http://schemas.openxmlformats.org/drawingml/2006/main">
            <a:pPr algn="r" rtl="1">
              <a:defRPr sz="2100" b="0">
                <a:solidFill>
                  <a:srgbClr val="263B33"/>
                </a:solidFill>
                <a:latin typeface="DejaVu Sans"/>
                <a:ea typeface="DejaVu Sans"/>
                <a:cs typeface="DejaVu Sans"/>
              </a:defRPr>
            </a:pPr>
            <a:r>
              <a:rPr sz="2100" b="0" lang="ar-JO">
                <a:solidFill>
                  <a:srgbClr val="263B33"/>
                </a:solidFill>
                <a:latin typeface="DejaVu Sans"/>
                <a:ea typeface="DejaVu Sans"/>
                <a:cs typeface="DejaVu Sans"/>
              </a:rPr>
              <a:t>توصيات تقود إلى تواصل</a:t>
            </a:r>
          </a:p>
          <a:p xmlns:a="http://schemas.openxmlformats.org/drawingml/2006/main">
            <a:pPr algn="r" rtl="1">
              <a:defRPr sz="2100" b="0">
                <a:solidFill>
                  <a:srgbClr val="263B33"/>
                </a:solidFill>
                <a:latin typeface="DejaVu Sans"/>
                <a:ea typeface="DejaVu Sans"/>
                <a:cs typeface="DejaVu Sans"/>
              </a:defRPr>
            </a:pPr>
            <a:r>
              <a:rPr sz="2100" b="0" lang="ar-JO">
                <a:solidFill>
                  <a:srgbClr val="263B33"/>
                </a:solidFill>
                <a:latin typeface="DejaVu Sans"/>
                <a:ea typeface="DejaVu Sans"/>
                <a:cs typeface="DejaVu Sans"/>
              </a:rPr>
              <a:t>مبيعات تؤكّدها الشركات</a:t>
            </a:r>
          </a:p>
        </p:txBody>
      </p:sp>
      <p:sp>
        <p:nvSpPr>
          <p:cNvPr id="7" name="divider-60">
            <a:extLst xmlns:a="http://schemas.openxmlformats.org/drawingml/2006/main">
              <a:ext uri="{FF2B5EF4-FFF2-40B4-BE49-F238E27FC236}">
                <a16:creationId xmlns:a16="http://schemas.microsoft.com/office/drawing/2014/main" id="{99ED0F17-8C0F-40C0-850C-935B3A0BCBD1}"/>
              </a:ext>
            </a:extLst>
          </p:cNvPr>
          <p:cNvSpPr>
            <a:spLocks xmlns:a="http://schemas.openxmlformats.org/drawingml/2006/main" noGrp="1"/>
          </p:cNvSpPr>
          <p:nvPr/>
        </p:nvSpPr>
        <p:spPr>
          <a:xfrm xmlns:a="http://schemas.openxmlformats.org/drawingml/2006/main">
            <a:off x="685800" y="4495800"/>
            <a:ext cx="10820400" cy="0"/>
          </a:xfrm>
          <a:prstGeom xmlns:a="http://schemas.openxmlformats.org/drawingml/2006/main" prst="line">
            <a:avLst/>
          </a:prstGeom>
          <a:noFill xmlns:a="http://schemas.openxmlformats.org/drawingml/2006/main"/>
          <a:ln xmlns:a="http://schemas.openxmlformats.org/drawingml/2006/main" w="11430">
            <a:solidFill>
              <a:srgbClr val="D8DDD0"/>
            </a:solidFill>
          </a:ln>
        </p:spPr>
      </p:sp>
      <p:sp>
        <p:nvSpPr>
          <p:cNvPr id="8" name="text-61">
            <a:extLst xmlns:a="http://schemas.openxmlformats.org/drawingml/2006/main">
              <a:ext uri="{FF2B5EF4-FFF2-40B4-BE49-F238E27FC236}">
                <a16:creationId xmlns:a16="http://schemas.microsoft.com/office/drawing/2014/main" id="{213C4487-754B-4F8D-8459-11922624DE3E}"/>
              </a:ext>
            </a:extLst>
          </p:cNvPr>
          <p:cNvSpPr>
            <a:spLocks xmlns:a="http://schemas.openxmlformats.org/drawingml/2006/main" noGrp="1"/>
          </p:cNvSpPr>
          <p:nvPr/>
        </p:nvSpPr>
        <p:spPr>
          <a:xfrm xmlns:a="http://schemas.openxmlformats.org/drawingml/2006/main">
            <a:off x="685800" y="47529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73F35"/>
                </a:solidFill>
                <a:latin typeface="DejaVu Sans"/>
                <a:ea typeface="DejaVu Sans"/>
                <a:cs typeface="DejaVu Sans"/>
              </a:defRPr>
            </a:defPPr>
          </a:lstStyle>
          <a:p xmlns:a="http://schemas.openxmlformats.org/drawingml/2006/main">
            <a:pPr algn="r" rtl="1">
              <a:defRPr sz="2175" b="1">
                <a:solidFill>
                  <a:srgbClr val="173F35"/>
                </a:solidFill>
                <a:latin typeface="DejaVu Sans"/>
                <a:ea typeface="DejaVu Sans"/>
                <a:cs typeface="DejaVu Sans"/>
              </a:defRPr>
            </a:pPr>
            <a:r>
              <a:rPr sz="2175" b="1" lang="ar-JO">
                <a:solidFill>
                  <a:srgbClr val="173F35"/>
                </a:solidFill>
                <a:latin typeface="DejaVu Sans"/>
                <a:ea typeface="DejaVu Sans"/>
                <a:cs typeface="DejaVu Sans"/>
              </a:rPr>
              <a:t>الخطوة التالية المقترحة: تجربة ميدانية صغيرة</a:t>
            </a:r>
          </a:p>
        </p:txBody>
      </p:sp>
      <p:sp>
        <p:nvSpPr>
          <p:cNvPr id="9" name="text-62">
            <a:extLst xmlns:a="http://schemas.openxmlformats.org/drawingml/2006/main">
              <a:ext uri="{FF2B5EF4-FFF2-40B4-BE49-F238E27FC236}">
                <a16:creationId xmlns:a16="http://schemas.microsoft.com/office/drawing/2014/main" id="{4DF675ED-17FA-480E-917E-1B8937FFC042}"/>
              </a:ext>
            </a:extLst>
          </p:cNvPr>
          <p:cNvSpPr>
            <a:spLocks xmlns:a="http://schemas.openxmlformats.org/drawingml/2006/main" noGrp="1"/>
          </p:cNvSpPr>
          <p:nvPr/>
        </p:nvSpPr>
        <p:spPr>
          <a:xfrm xmlns:a="http://schemas.openxmlformats.org/drawingml/2006/main">
            <a:off x="8543925" y="5305425"/>
            <a:ext cx="21717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825" b="1">
                <a:solidFill>
                  <a:srgbClr val="C76536"/>
                </a:solidFill>
                <a:latin typeface="DejaVu Sans"/>
                <a:ea typeface="DejaVu Sans"/>
                <a:cs typeface="DejaVu Sans"/>
              </a:defRPr>
            </a:defPPr>
          </a:lstStyle>
          <a:p xmlns:a="http://schemas.openxmlformats.org/drawingml/2006/main">
            <a:pPr algn="ctr" rtl="1">
              <a:defRPr sz="3825" b="1">
                <a:solidFill>
                  <a:srgbClr val="C76536"/>
                </a:solidFill>
                <a:latin typeface="DejaVu Sans"/>
                <a:ea typeface="DejaVu Sans"/>
                <a:cs typeface="DejaVu Sans"/>
              </a:defRPr>
            </a:pPr>
            <a:r>
              <a:rPr sz="3825" b="1" lang="ar-JO">
                <a:solidFill>
                  <a:srgbClr val="C76536"/>
                </a:solidFill>
                <a:latin typeface="DejaVu Sans"/>
                <a:ea typeface="DejaVu Sans"/>
                <a:cs typeface="DejaVu Sans"/>
              </a:rPr>
              <a:t>٢٠</a:t>
            </a:r>
          </a:p>
        </p:txBody>
      </p:sp>
      <p:sp>
        <p:nvSpPr>
          <p:cNvPr id="10" name="text-63">
            <a:extLst xmlns:a="http://schemas.openxmlformats.org/drawingml/2006/main">
              <a:ext uri="{FF2B5EF4-FFF2-40B4-BE49-F238E27FC236}">
                <a16:creationId xmlns:a16="http://schemas.microsoft.com/office/drawing/2014/main" id="{53241790-9567-460A-8AF1-04F7CA21FF8C}"/>
              </a:ext>
            </a:extLst>
          </p:cNvPr>
          <p:cNvSpPr>
            <a:spLocks xmlns:a="http://schemas.openxmlformats.org/drawingml/2006/main" noGrp="1"/>
          </p:cNvSpPr>
          <p:nvPr/>
        </p:nvSpPr>
        <p:spPr>
          <a:xfrm xmlns:a="http://schemas.openxmlformats.org/drawingml/2006/main">
            <a:off x="8543925" y="595312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67726A"/>
                </a:solidFill>
                <a:latin typeface="DejaVu Sans"/>
                <a:ea typeface="DejaVu Sans"/>
                <a:cs typeface="DejaVu Sans"/>
              </a:defRPr>
            </a:defPPr>
          </a:lstStyle>
          <a:p xmlns:a="http://schemas.openxmlformats.org/drawingml/2006/main">
            <a:pPr algn="ctr" rtl="1">
              <a:defRPr sz="1725" b="0">
                <a:solidFill>
                  <a:srgbClr val="67726A"/>
                </a:solidFill>
                <a:latin typeface="DejaVu Sans"/>
                <a:ea typeface="DejaVu Sans"/>
                <a:cs typeface="DejaVu Sans"/>
              </a:defRPr>
            </a:pPr>
            <a:r>
              <a:rPr sz="1725" b="0" lang="ar-JO">
                <a:solidFill>
                  <a:srgbClr val="67726A"/>
                </a:solidFill>
                <a:latin typeface="DejaVu Sans"/>
                <a:ea typeface="DejaVu Sans"/>
                <a:cs typeface="DejaVu Sans"/>
              </a:rPr>
              <a:t>شركة محلية</a:t>
            </a:r>
          </a:p>
        </p:txBody>
      </p:sp>
      <p:sp>
        <p:nvSpPr>
          <p:cNvPr id="11" name="text-64">
            <a:extLst xmlns:a="http://schemas.openxmlformats.org/drawingml/2006/main">
              <a:ext uri="{FF2B5EF4-FFF2-40B4-BE49-F238E27FC236}">
                <a16:creationId xmlns:a16="http://schemas.microsoft.com/office/drawing/2014/main" id="{5041706B-B5C0-4261-BE91-9E2F1AAFEFFF}"/>
              </a:ext>
            </a:extLst>
          </p:cNvPr>
          <p:cNvSpPr>
            <a:spLocks xmlns:a="http://schemas.openxmlformats.org/drawingml/2006/main" noGrp="1"/>
          </p:cNvSpPr>
          <p:nvPr/>
        </p:nvSpPr>
        <p:spPr>
          <a:xfrm xmlns:a="http://schemas.openxmlformats.org/drawingml/2006/main">
            <a:off x="4848225" y="5305425"/>
            <a:ext cx="21717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825" b="1">
                <a:solidFill>
                  <a:srgbClr val="C76536"/>
                </a:solidFill>
                <a:latin typeface="DejaVu Sans"/>
                <a:ea typeface="DejaVu Sans"/>
                <a:cs typeface="DejaVu Sans"/>
              </a:defRPr>
            </a:defPPr>
          </a:lstStyle>
          <a:p xmlns:a="http://schemas.openxmlformats.org/drawingml/2006/main">
            <a:pPr algn="ctr" rtl="1">
              <a:defRPr sz="3825" b="1">
                <a:solidFill>
                  <a:srgbClr val="C76536"/>
                </a:solidFill>
                <a:latin typeface="DejaVu Sans"/>
                <a:ea typeface="DejaVu Sans"/>
                <a:cs typeface="DejaVu Sans"/>
              </a:defRPr>
            </a:pPr>
            <a:r>
              <a:rPr sz="3825" b="1" lang="ar-JO">
                <a:solidFill>
                  <a:srgbClr val="C76536"/>
                </a:solidFill>
                <a:latin typeface="DejaVu Sans"/>
                <a:ea typeface="DejaVu Sans"/>
                <a:cs typeface="DejaVu Sans"/>
              </a:rPr>
              <a:t>١٠٠</a:t>
            </a:r>
          </a:p>
        </p:txBody>
      </p:sp>
      <p:sp>
        <p:nvSpPr>
          <p:cNvPr id="12" name="text-65">
            <a:extLst xmlns:a="http://schemas.openxmlformats.org/drawingml/2006/main">
              <a:ext uri="{FF2B5EF4-FFF2-40B4-BE49-F238E27FC236}">
                <a16:creationId xmlns:a16="http://schemas.microsoft.com/office/drawing/2014/main" id="{5F9CCD7A-867D-4E73-B95D-BEEA4D08B05A}"/>
              </a:ext>
            </a:extLst>
          </p:cNvPr>
          <p:cNvSpPr>
            <a:spLocks xmlns:a="http://schemas.openxmlformats.org/drawingml/2006/main" noGrp="1"/>
          </p:cNvSpPr>
          <p:nvPr/>
        </p:nvSpPr>
        <p:spPr>
          <a:xfrm xmlns:a="http://schemas.openxmlformats.org/drawingml/2006/main">
            <a:off x="4848225" y="595312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67726A"/>
                </a:solidFill>
                <a:latin typeface="DejaVu Sans"/>
                <a:ea typeface="DejaVu Sans"/>
                <a:cs typeface="DejaVu Sans"/>
              </a:defRPr>
            </a:defPPr>
          </a:lstStyle>
          <a:p xmlns:a="http://schemas.openxmlformats.org/drawingml/2006/main">
            <a:pPr algn="ctr" rtl="1">
              <a:defRPr sz="1725" b="0">
                <a:solidFill>
                  <a:srgbClr val="67726A"/>
                </a:solidFill>
                <a:latin typeface="DejaVu Sans"/>
                <a:ea typeface="DejaVu Sans"/>
                <a:cs typeface="DejaVu Sans"/>
              </a:defRPr>
            </a:pPr>
            <a:r>
              <a:rPr sz="1725" b="0" lang="ar-JO">
                <a:solidFill>
                  <a:srgbClr val="67726A"/>
                </a:solidFill>
                <a:latin typeface="DejaVu Sans"/>
                <a:ea typeface="DejaVu Sans"/>
                <a:cs typeface="DejaVu Sans"/>
              </a:rPr>
              <a:t>مستخدم</a:t>
            </a:r>
          </a:p>
        </p:txBody>
      </p:sp>
      <p:sp>
        <p:nvSpPr>
          <p:cNvPr id="13" name="text-66">
            <a:extLst xmlns:a="http://schemas.openxmlformats.org/drawingml/2006/main">
              <a:ext uri="{FF2B5EF4-FFF2-40B4-BE49-F238E27FC236}">
                <a16:creationId xmlns:a16="http://schemas.microsoft.com/office/drawing/2014/main" id="{7FE1F4C2-25B9-45FE-AFA6-91E57A8C2495}"/>
              </a:ext>
            </a:extLst>
          </p:cNvPr>
          <p:cNvSpPr>
            <a:spLocks xmlns:a="http://schemas.openxmlformats.org/drawingml/2006/main" noGrp="1"/>
          </p:cNvSpPr>
          <p:nvPr/>
        </p:nvSpPr>
        <p:spPr>
          <a:xfrm xmlns:a="http://schemas.openxmlformats.org/drawingml/2006/main">
            <a:off x="1152525" y="5305425"/>
            <a:ext cx="21717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825" b="1">
                <a:solidFill>
                  <a:srgbClr val="C76536"/>
                </a:solidFill>
                <a:latin typeface="DejaVu Sans"/>
                <a:ea typeface="DejaVu Sans"/>
                <a:cs typeface="DejaVu Sans"/>
              </a:defRPr>
            </a:defPPr>
          </a:lstStyle>
          <a:p xmlns:a="http://schemas.openxmlformats.org/drawingml/2006/main">
            <a:pPr algn="ctr" rtl="1">
              <a:defRPr sz="3825" b="1">
                <a:solidFill>
                  <a:srgbClr val="C76536"/>
                </a:solidFill>
                <a:latin typeface="DejaVu Sans"/>
                <a:ea typeface="DejaVu Sans"/>
                <a:cs typeface="DejaVu Sans"/>
              </a:defRPr>
            </a:pPr>
            <a:r>
              <a:rPr sz="3825" b="1" lang="ar-JO">
                <a:solidFill>
                  <a:srgbClr val="C76536"/>
                </a:solidFill>
                <a:latin typeface="DejaVu Sans"/>
                <a:ea typeface="DejaVu Sans"/>
                <a:cs typeface="DejaVu Sans"/>
              </a:rPr>
              <a:t>١٤</a:t>
            </a:r>
          </a:p>
        </p:txBody>
      </p:sp>
      <p:sp>
        <p:nvSpPr>
          <p:cNvPr id="14" name="text-67">
            <a:extLst xmlns:a="http://schemas.openxmlformats.org/drawingml/2006/main">
              <a:ext uri="{FF2B5EF4-FFF2-40B4-BE49-F238E27FC236}">
                <a16:creationId xmlns:a16="http://schemas.microsoft.com/office/drawing/2014/main" id="{1CCF323F-F710-45F4-B6E7-F89FFDE12E49}"/>
              </a:ext>
            </a:extLst>
          </p:cNvPr>
          <p:cNvSpPr>
            <a:spLocks xmlns:a="http://schemas.openxmlformats.org/drawingml/2006/main" noGrp="1"/>
          </p:cNvSpPr>
          <p:nvPr/>
        </p:nvSpPr>
        <p:spPr>
          <a:xfrm xmlns:a="http://schemas.openxmlformats.org/drawingml/2006/main">
            <a:off x="1152525" y="595312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67726A"/>
                </a:solidFill>
                <a:latin typeface="DejaVu Sans"/>
                <a:ea typeface="DejaVu Sans"/>
                <a:cs typeface="DejaVu Sans"/>
              </a:defRPr>
            </a:defPPr>
          </a:lstStyle>
          <a:p xmlns:a="http://schemas.openxmlformats.org/drawingml/2006/main">
            <a:pPr algn="ctr" rtl="1">
              <a:defRPr sz="1725" b="0">
                <a:solidFill>
                  <a:srgbClr val="67726A"/>
                </a:solidFill>
                <a:latin typeface="DejaVu Sans"/>
                <a:ea typeface="DejaVu Sans"/>
                <a:cs typeface="DejaVu Sans"/>
              </a:defRPr>
            </a:pPr>
            <a:r>
              <a:rPr sz="1725" b="0" lang="ar-JO">
                <a:solidFill>
                  <a:srgbClr val="67726A"/>
                </a:solidFill>
                <a:latin typeface="DejaVu Sans"/>
                <a:ea typeface="DejaVu Sans"/>
                <a:cs typeface="DejaVu Sans"/>
              </a:rPr>
              <a:t>يوم اختبار</a:t>
            </a:r>
          </a:p>
        </p:txBody>
      </p:sp>
    </p:spTree>
    <p:extLst>
      <p:ext uri="{BB962C8B-B14F-4D97-AF65-F5344CB8AC3E}">
        <p14:creationId xmlns:p14="http://schemas.microsoft.com/office/powerpoint/2010/main" val="4273432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2026-10-10T09:26:53.5530000Z</dcterms:created>
  <dcterms:modified xsi:type="dcterms:W3CDTF">2026-10-10T09:26:53.5530000Z</dcterms:modified>
</coreProperties>
</file>